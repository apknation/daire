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League Spartan" charset="1" panose="00000800000000000000"/>
      <p:regular r:id="rId20"/>
    </p:embeddedFont>
    <p:embeddedFont>
      <p:font typeface="Archivo Black" charset="1" panose="020B0A03020202020B04"/>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7.png" Type="http://schemas.openxmlformats.org/officeDocument/2006/relationships/image"/><Relationship Id="rId8" Target="../media/image8.png" Type="http://schemas.openxmlformats.org/officeDocument/2006/relationships/image"/><Relationship Id="rId9" Target="../media/image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130300" y="4057750"/>
            <a:ext cx="3086100" cy="2171499"/>
            <a:chOff x="0" y="0"/>
            <a:chExt cx="812800" cy="571917"/>
          </a:xfrm>
        </p:grpSpPr>
        <p:sp>
          <p:nvSpPr>
            <p:cNvPr name="Freeform 4" id="4"/>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5" id="5"/>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6467343" y="4057750"/>
            <a:ext cx="3086100" cy="2171499"/>
            <a:chOff x="0" y="0"/>
            <a:chExt cx="812800" cy="571917"/>
          </a:xfrm>
        </p:grpSpPr>
        <p:sp>
          <p:nvSpPr>
            <p:cNvPr name="Freeform 7" id="7"/>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8" id="8"/>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5888151" y="0"/>
            <a:ext cx="2399849" cy="2399849"/>
          </a:xfrm>
          <a:custGeom>
            <a:avLst/>
            <a:gdLst/>
            <a:ahLst/>
            <a:cxnLst/>
            <a:rect r="r" b="b" t="t" l="l"/>
            <a:pathLst>
              <a:path h="2399849" w="2399849">
                <a:moveTo>
                  <a:pt x="0" y="0"/>
                </a:moveTo>
                <a:lnTo>
                  <a:pt x="2399849" y="0"/>
                </a:lnTo>
                <a:lnTo>
                  <a:pt x="2399849" y="2399849"/>
                </a:lnTo>
                <a:lnTo>
                  <a:pt x="0" y="2399849"/>
                </a:lnTo>
                <a:lnTo>
                  <a:pt x="0" y="0"/>
                </a:lnTo>
                <a:close/>
              </a:path>
            </a:pathLst>
          </a:custGeom>
          <a:blipFill>
            <a:blip r:embed="rId3"/>
            <a:stretch>
              <a:fillRect l="0" t="0" r="0" b="0"/>
            </a:stretch>
          </a:blipFill>
        </p:spPr>
      </p:sp>
      <p:sp>
        <p:nvSpPr>
          <p:cNvPr name="Freeform 10" id="10"/>
          <p:cNvSpPr/>
          <p:nvPr/>
        </p:nvSpPr>
        <p:spPr>
          <a:xfrm flipH="false" flipV="false" rot="0">
            <a:off x="-4790" y="59389"/>
            <a:ext cx="1960590" cy="2281071"/>
          </a:xfrm>
          <a:custGeom>
            <a:avLst/>
            <a:gdLst/>
            <a:ahLst/>
            <a:cxnLst/>
            <a:rect r="r" b="b" t="t" l="l"/>
            <a:pathLst>
              <a:path h="2281071" w="1960590">
                <a:moveTo>
                  <a:pt x="0" y="0"/>
                </a:moveTo>
                <a:lnTo>
                  <a:pt x="1960590" y="0"/>
                </a:lnTo>
                <a:lnTo>
                  <a:pt x="1960590" y="2281071"/>
                </a:lnTo>
                <a:lnTo>
                  <a:pt x="0" y="2281071"/>
                </a:lnTo>
                <a:lnTo>
                  <a:pt x="0" y="0"/>
                </a:lnTo>
                <a:close/>
              </a:path>
            </a:pathLst>
          </a:custGeom>
          <a:blipFill>
            <a:blip r:embed="rId4"/>
            <a:stretch>
              <a:fillRect l="0" t="0" r="0" b="0"/>
            </a:stretch>
          </a:blipFill>
        </p:spPr>
      </p:sp>
      <p:sp>
        <p:nvSpPr>
          <p:cNvPr name="TextBox 11" id="11"/>
          <p:cNvSpPr txBox="true"/>
          <p:nvPr/>
        </p:nvSpPr>
        <p:spPr>
          <a:xfrm rot="0">
            <a:off x="1847580" y="1941366"/>
            <a:ext cx="14481076" cy="2870201"/>
          </a:xfrm>
          <a:prstGeom prst="rect">
            <a:avLst/>
          </a:prstGeom>
        </p:spPr>
        <p:txBody>
          <a:bodyPr anchor="t" rtlCol="false" tIns="0" lIns="0" bIns="0" rIns="0">
            <a:spAutoFit/>
          </a:bodyPr>
          <a:lstStyle/>
          <a:p>
            <a:pPr algn="ctr">
              <a:lnSpc>
                <a:spcPts val="7699"/>
              </a:lnSpc>
            </a:pPr>
            <a:r>
              <a:rPr lang="en-US" b="true" sz="5499">
                <a:solidFill>
                  <a:srgbClr val="004AAD"/>
                </a:solidFill>
                <a:latin typeface="League Spartan"/>
                <a:ea typeface="League Spartan"/>
                <a:cs typeface="League Spartan"/>
                <a:sym typeface="League Spartan"/>
              </a:rPr>
              <a:t>A BLOCKCHAIN-BASED AI REPUTATION ENGINE FOR DECENTRALIZED CREDIT              ASSESSMENT</a:t>
            </a:r>
          </a:p>
        </p:txBody>
      </p:sp>
      <p:sp>
        <p:nvSpPr>
          <p:cNvPr name="TextBox 12" id="12"/>
          <p:cNvSpPr txBox="true"/>
          <p:nvPr/>
        </p:nvSpPr>
        <p:spPr>
          <a:xfrm rot="0">
            <a:off x="7696764" y="6105425"/>
            <a:ext cx="2894471" cy="1111252"/>
          </a:xfrm>
          <a:prstGeom prst="rect">
            <a:avLst/>
          </a:prstGeom>
        </p:spPr>
        <p:txBody>
          <a:bodyPr anchor="t" rtlCol="false" tIns="0" lIns="0" bIns="0" rIns="0">
            <a:spAutoFit/>
          </a:bodyPr>
          <a:lstStyle/>
          <a:p>
            <a:pPr algn="ctr">
              <a:lnSpc>
                <a:spcPts val="9099"/>
              </a:lnSpc>
              <a:spcBef>
                <a:spcPct val="0"/>
              </a:spcBef>
            </a:pPr>
            <a:r>
              <a:rPr lang="en-US" sz="6499">
                <a:solidFill>
                  <a:srgbClr val="131003"/>
                </a:solidFill>
                <a:latin typeface="Archivo Black"/>
                <a:ea typeface="Archivo Black"/>
                <a:cs typeface="Archivo Black"/>
                <a:sym typeface="Archivo Black"/>
              </a:rPr>
              <a:t>DAIRE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130300" y="4057750"/>
            <a:ext cx="3086100" cy="2171499"/>
            <a:chOff x="0" y="0"/>
            <a:chExt cx="812800" cy="571917"/>
          </a:xfrm>
        </p:grpSpPr>
        <p:sp>
          <p:nvSpPr>
            <p:cNvPr name="Freeform 4" id="4"/>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5" id="5"/>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6467343" y="4057750"/>
            <a:ext cx="3086100" cy="2171499"/>
            <a:chOff x="0" y="0"/>
            <a:chExt cx="812800" cy="571917"/>
          </a:xfrm>
        </p:grpSpPr>
        <p:sp>
          <p:nvSpPr>
            <p:cNvPr name="Freeform 7" id="7"/>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8" id="8"/>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5888151" y="0"/>
            <a:ext cx="2399849" cy="2399849"/>
          </a:xfrm>
          <a:custGeom>
            <a:avLst/>
            <a:gdLst/>
            <a:ahLst/>
            <a:cxnLst/>
            <a:rect r="r" b="b" t="t" l="l"/>
            <a:pathLst>
              <a:path h="2399849" w="2399849">
                <a:moveTo>
                  <a:pt x="0" y="0"/>
                </a:moveTo>
                <a:lnTo>
                  <a:pt x="2399849" y="0"/>
                </a:lnTo>
                <a:lnTo>
                  <a:pt x="2399849" y="2399849"/>
                </a:lnTo>
                <a:lnTo>
                  <a:pt x="0" y="2399849"/>
                </a:lnTo>
                <a:lnTo>
                  <a:pt x="0" y="0"/>
                </a:lnTo>
                <a:close/>
              </a:path>
            </a:pathLst>
          </a:custGeom>
          <a:blipFill>
            <a:blip r:embed="rId3"/>
            <a:stretch>
              <a:fillRect l="0" t="0" r="0" b="0"/>
            </a:stretch>
          </a:blipFill>
        </p:spPr>
      </p:sp>
      <p:sp>
        <p:nvSpPr>
          <p:cNvPr name="Freeform 10" id="10"/>
          <p:cNvSpPr/>
          <p:nvPr/>
        </p:nvSpPr>
        <p:spPr>
          <a:xfrm flipH="false" flipV="false" rot="0">
            <a:off x="-4790" y="28575"/>
            <a:ext cx="1960590" cy="2281071"/>
          </a:xfrm>
          <a:custGeom>
            <a:avLst/>
            <a:gdLst/>
            <a:ahLst/>
            <a:cxnLst/>
            <a:rect r="r" b="b" t="t" l="l"/>
            <a:pathLst>
              <a:path h="2281071" w="1960590">
                <a:moveTo>
                  <a:pt x="0" y="0"/>
                </a:moveTo>
                <a:lnTo>
                  <a:pt x="1960590" y="0"/>
                </a:lnTo>
                <a:lnTo>
                  <a:pt x="1960590" y="2281071"/>
                </a:lnTo>
                <a:lnTo>
                  <a:pt x="0" y="2281071"/>
                </a:lnTo>
                <a:lnTo>
                  <a:pt x="0" y="0"/>
                </a:lnTo>
                <a:close/>
              </a:path>
            </a:pathLst>
          </a:custGeom>
          <a:blipFill>
            <a:blip r:embed="rId4"/>
            <a:stretch>
              <a:fillRect l="0" t="0" r="0" b="0"/>
            </a:stretch>
          </a:blipFill>
        </p:spPr>
      </p:sp>
      <p:sp>
        <p:nvSpPr>
          <p:cNvPr name="TextBox 11" id="11"/>
          <p:cNvSpPr txBox="true"/>
          <p:nvPr/>
        </p:nvSpPr>
        <p:spPr>
          <a:xfrm rot="0">
            <a:off x="4719793" y="696687"/>
            <a:ext cx="8404364" cy="1078232"/>
          </a:xfrm>
          <a:prstGeom prst="rect">
            <a:avLst/>
          </a:prstGeom>
        </p:spPr>
        <p:txBody>
          <a:bodyPr anchor="t" rtlCol="false" tIns="0" lIns="0" bIns="0" rIns="0">
            <a:spAutoFit/>
          </a:bodyPr>
          <a:lstStyle/>
          <a:p>
            <a:pPr algn="ctr">
              <a:lnSpc>
                <a:spcPts val="8819"/>
              </a:lnSpc>
            </a:pPr>
            <a:r>
              <a:rPr lang="en-US" b="true" sz="6299">
                <a:solidFill>
                  <a:srgbClr val="004AAD"/>
                </a:solidFill>
                <a:latin typeface="League Spartan"/>
                <a:ea typeface="League Spartan"/>
                <a:cs typeface="League Spartan"/>
                <a:sym typeface="League Spartan"/>
              </a:rPr>
              <a:t>PROJECT TEAM</a:t>
            </a:r>
          </a:p>
        </p:txBody>
      </p:sp>
      <p:sp>
        <p:nvSpPr>
          <p:cNvPr name="TextBox 12" id="12"/>
          <p:cNvSpPr txBox="true"/>
          <p:nvPr/>
        </p:nvSpPr>
        <p:spPr>
          <a:xfrm rot="0">
            <a:off x="1955800" y="2932605"/>
            <a:ext cx="4963328" cy="4344827"/>
          </a:xfrm>
          <a:prstGeom prst="rect">
            <a:avLst/>
          </a:prstGeom>
        </p:spPr>
        <p:txBody>
          <a:bodyPr anchor="t" rtlCol="false" tIns="0" lIns="0" bIns="0" rIns="0">
            <a:spAutoFit/>
          </a:bodyPr>
          <a:lstStyle/>
          <a:p>
            <a:pPr algn="ctr">
              <a:lnSpc>
                <a:spcPts val="5521"/>
              </a:lnSpc>
            </a:pPr>
          </a:p>
          <a:p>
            <a:pPr algn="l" marL="743522" indent="-371761" lvl="1">
              <a:lnSpc>
                <a:spcPts val="4821"/>
              </a:lnSpc>
              <a:buAutoNum type="arabicPeriod" startAt="1"/>
            </a:pPr>
            <a:r>
              <a:rPr lang="en-US" sz="3443">
                <a:solidFill>
                  <a:srgbClr val="131003"/>
                </a:solidFill>
                <a:latin typeface="Archivo Black"/>
                <a:ea typeface="Archivo Black"/>
                <a:cs typeface="Archivo Black"/>
                <a:sym typeface="Archivo Black"/>
              </a:rPr>
              <a:t>Amina Kalonge</a:t>
            </a:r>
          </a:p>
          <a:p>
            <a:pPr algn="l" marL="743522" indent="-371761" lvl="1">
              <a:lnSpc>
                <a:spcPts val="4821"/>
              </a:lnSpc>
              <a:buAutoNum type="arabicPeriod" startAt="1"/>
            </a:pPr>
            <a:r>
              <a:rPr lang="en-US" sz="3443">
                <a:solidFill>
                  <a:srgbClr val="131003"/>
                </a:solidFill>
                <a:latin typeface="Archivo Black"/>
                <a:ea typeface="Archivo Black"/>
                <a:cs typeface="Archivo Black"/>
                <a:sym typeface="Archivo Black"/>
              </a:rPr>
              <a:t>Atanasi Kafuka</a:t>
            </a:r>
          </a:p>
          <a:p>
            <a:pPr algn="l" marL="743522" indent="-371761" lvl="1">
              <a:lnSpc>
                <a:spcPts val="4821"/>
              </a:lnSpc>
              <a:buAutoNum type="arabicPeriod" startAt="1"/>
            </a:pPr>
            <a:r>
              <a:rPr lang="en-US" sz="3443">
                <a:solidFill>
                  <a:srgbClr val="131003"/>
                </a:solidFill>
                <a:latin typeface="Archivo Black"/>
                <a:ea typeface="Archivo Black"/>
                <a:cs typeface="Archivo Black"/>
                <a:sym typeface="Archivo Black"/>
              </a:rPr>
              <a:t>Amiri Athumani</a:t>
            </a:r>
          </a:p>
          <a:p>
            <a:pPr algn="l" marL="743522" indent="-371761" lvl="1">
              <a:lnSpc>
                <a:spcPts val="4821"/>
              </a:lnSpc>
              <a:buAutoNum type="arabicPeriod" startAt="1"/>
            </a:pPr>
            <a:r>
              <a:rPr lang="en-US" sz="3443">
                <a:solidFill>
                  <a:srgbClr val="131003"/>
                </a:solidFill>
                <a:latin typeface="Archivo Black"/>
                <a:ea typeface="Archivo Black"/>
                <a:cs typeface="Archivo Black"/>
                <a:sym typeface="Archivo Black"/>
              </a:rPr>
              <a:t>Anthony Athanas</a:t>
            </a:r>
          </a:p>
          <a:p>
            <a:pPr algn="l" marL="743522" indent="-371761" lvl="1">
              <a:lnSpc>
                <a:spcPts val="4821"/>
              </a:lnSpc>
              <a:buAutoNum type="arabicPeriod" startAt="1"/>
            </a:pPr>
            <a:r>
              <a:rPr lang="en-US" sz="3443">
                <a:solidFill>
                  <a:srgbClr val="131003"/>
                </a:solidFill>
                <a:latin typeface="Archivo Black"/>
                <a:ea typeface="Archivo Black"/>
                <a:cs typeface="Archivo Black"/>
                <a:sym typeface="Archivo Black"/>
              </a:rPr>
              <a:t>Eves Vitus</a:t>
            </a:r>
          </a:p>
          <a:p>
            <a:pPr algn="l" marL="743522" indent="-371761" lvl="1">
              <a:lnSpc>
                <a:spcPts val="4821"/>
              </a:lnSpc>
              <a:buAutoNum type="arabicPeriod" startAt="1"/>
            </a:pPr>
            <a:r>
              <a:rPr lang="en-US" sz="3443">
                <a:solidFill>
                  <a:srgbClr val="131003"/>
                </a:solidFill>
                <a:latin typeface="Archivo Black"/>
                <a:ea typeface="Archivo Black"/>
                <a:cs typeface="Archivo Black"/>
                <a:sym typeface="Archivo Black"/>
              </a:rPr>
              <a:t>John Nabwanda</a:t>
            </a:r>
          </a:p>
        </p:txBody>
      </p:sp>
      <p:sp>
        <p:nvSpPr>
          <p:cNvPr name="TextBox 13" id="13"/>
          <p:cNvSpPr txBox="true"/>
          <p:nvPr/>
        </p:nvSpPr>
        <p:spPr>
          <a:xfrm rot="0">
            <a:off x="10330141" y="2942130"/>
            <a:ext cx="4963328" cy="3036727"/>
          </a:xfrm>
          <a:prstGeom prst="rect">
            <a:avLst/>
          </a:prstGeom>
        </p:spPr>
        <p:txBody>
          <a:bodyPr anchor="t" rtlCol="false" tIns="0" lIns="0" bIns="0" rIns="0">
            <a:spAutoFit/>
          </a:bodyPr>
          <a:lstStyle/>
          <a:p>
            <a:pPr algn="ctr">
              <a:lnSpc>
                <a:spcPts val="4821"/>
              </a:lnSpc>
            </a:pPr>
          </a:p>
          <a:p>
            <a:pPr algn="l" marL="743522" indent="-371761" lvl="1">
              <a:lnSpc>
                <a:spcPts val="4821"/>
              </a:lnSpc>
              <a:buAutoNum type="arabicPeriod" startAt="1"/>
            </a:pPr>
            <a:r>
              <a:rPr lang="en-US" sz="3443">
                <a:solidFill>
                  <a:srgbClr val="131003"/>
                </a:solidFill>
                <a:latin typeface="Archivo Black"/>
                <a:ea typeface="Archivo Black"/>
                <a:cs typeface="Archivo Black"/>
                <a:sym typeface="Archivo Black"/>
              </a:rPr>
              <a:t> Jackson Bakari</a:t>
            </a:r>
          </a:p>
          <a:p>
            <a:pPr algn="l" marL="743522" indent="-371761" lvl="1">
              <a:lnSpc>
                <a:spcPts val="4821"/>
              </a:lnSpc>
              <a:buAutoNum type="arabicPeriod" startAt="1"/>
            </a:pPr>
            <a:r>
              <a:rPr lang="en-US" sz="3443">
                <a:solidFill>
                  <a:srgbClr val="131003"/>
                </a:solidFill>
                <a:latin typeface="Archivo Black"/>
                <a:ea typeface="Archivo Black"/>
                <a:cs typeface="Archivo Black"/>
                <a:sym typeface="Archivo Black"/>
              </a:rPr>
              <a:t>Francis Elias</a:t>
            </a:r>
          </a:p>
          <a:p>
            <a:pPr algn="l" marL="743522" indent="-371761" lvl="1">
              <a:lnSpc>
                <a:spcPts val="4821"/>
              </a:lnSpc>
              <a:buAutoNum type="arabicPeriod" startAt="1"/>
            </a:pPr>
            <a:r>
              <a:rPr lang="en-US" sz="3443">
                <a:solidFill>
                  <a:srgbClr val="131003"/>
                </a:solidFill>
                <a:latin typeface="Archivo Black"/>
                <a:ea typeface="Archivo Black"/>
                <a:cs typeface="Archivo Black"/>
                <a:sym typeface="Archivo Black"/>
              </a:rPr>
              <a:t>Noel Jackson</a:t>
            </a:r>
          </a:p>
          <a:p>
            <a:pPr algn="l" marL="743522" indent="-371761" lvl="1">
              <a:lnSpc>
                <a:spcPts val="4821"/>
              </a:lnSpc>
              <a:buAutoNum type="arabicPeriod" startAt="1"/>
            </a:pPr>
            <a:r>
              <a:rPr lang="en-US" sz="3443">
                <a:solidFill>
                  <a:srgbClr val="131003"/>
                </a:solidFill>
                <a:latin typeface="Archivo Black"/>
                <a:ea typeface="Archivo Black"/>
                <a:cs typeface="Archivo Black"/>
                <a:sym typeface="Archivo Black"/>
              </a:rPr>
              <a:t>Mkadam</a:t>
            </a:r>
          </a:p>
        </p:txBody>
      </p:sp>
      <p:sp>
        <p:nvSpPr>
          <p:cNvPr name="TextBox 14" id="14"/>
          <p:cNvSpPr txBox="true"/>
          <p:nvPr/>
        </p:nvSpPr>
        <p:spPr>
          <a:xfrm rot="0">
            <a:off x="2238129" y="2417464"/>
            <a:ext cx="4963328" cy="723422"/>
          </a:xfrm>
          <a:prstGeom prst="rect">
            <a:avLst/>
          </a:prstGeom>
        </p:spPr>
        <p:txBody>
          <a:bodyPr anchor="t" rtlCol="false" tIns="0" lIns="0" bIns="0" rIns="0">
            <a:spAutoFit/>
          </a:bodyPr>
          <a:lstStyle/>
          <a:p>
            <a:pPr algn="l">
              <a:lnSpc>
                <a:spcPts val="5801"/>
              </a:lnSpc>
            </a:pPr>
            <a:r>
              <a:rPr lang="en-US" sz="4143">
                <a:solidFill>
                  <a:srgbClr val="004AAD"/>
                </a:solidFill>
                <a:latin typeface="Archivo Black"/>
                <a:ea typeface="Archivo Black"/>
                <a:cs typeface="Archivo Black"/>
                <a:sym typeface="Archivo Black"/>
              </a:rPr>
              <a:t>TEAM MEMBERS</a:t>
            </a:r>
          </a:p>
        </p:txBody>
      </p:sp>
      <p:sp>
        <p:nvSpPr>
          <p:cNvPr name="TextBox 15" id="15"/>
          <p:cNvSpPr txBox="true"/>
          <p:nvPr/>
        </p:nvSpPr>
        <p:spPr>
          <a:xfrm rot="0">
            <a:off x="10330141" y="2417464"/>
            <a:ext cx="4963328" cy="723422"/>
          </a:xfrm>
          <a:prstGeom prst="rect">
            <a:avLst/>
          </a:prstGeom>
        </p:spPr>
        <p:txBody>
          <a:bodyPr anchor="t" rtlCol="false" tIns="0" lIns="0" bIns="0" rIns="0">
            <a:spAutoFit/>
          </a:bodyPr>
          <a:lstStyle/>
          <a:p>
            <a:pPr algn="ctr">
              <a:lnSpc>
                <a:spcPts val="5801"/>
              </a:lnSpc>
            </a:pPr>
            <a:r>
              <a:rPr lang="en-US" sz="4143">
                <a:solidFill>
                  <a:srgbClr val="004AAD"/>
                </a:solidFill>
                <a:latin typeface="Archivo Black"/>
                <a:ea typeface="Archivo Black"/>
                <a:cs typeface="Archivo Black"/>
                <a:sym typeface="Archivo Black"/>
              </a:rPr>
              <a:t>SUPERVISORS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130300" y="4057750"/>
            <a:ext cx="3086100" cy="2171499"/>
            <a:chOff x="0" y="0"/>
            <a:chExt cx="812800" cy="571917"/>
          </a:xfrm>
        </p:grpSpPr>
        <p:sp>
          <p:nvSpPr>
            <p:cNvPr name="Freeform 4" id="4"/>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5" id="5"/>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6467343" y="4057750"/>
            <a:ext cx="3086100" cy="2171499"/>
            <a:chOff x="0" y="0"/>
            <a:chExt cx="812800" cy="571917"/>
          </a:xfrm>
        </p:grpSpPr>
        <p:sp>
          <p:nvSpPr>
            <p:cNvPr name="Freeform 7" id="7"/>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8" id="8"/>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5888151" y="0"/>
            <a:ext cx="2399849" cy="2399849"/>
          </a:xfrm>
          <a:custGeom>
            <a:avLst/>
            <a:gdLst/>
            <a:ahLst/>
            <a:cxnLst/>
            <a:rect r="r" b="b" t="t" l="l"/>
            <a:pathLst>
              <a:path h="2399849" w="2399849">
                <a:moveTo>
                  <a:pt x="0" y="0"/>
                </a:moveTo>
                <a:lnTo>
                  <a:pt x="2399849" y="0"/>
                </a:lnTo>
                <a:lnTo>
                  <a:pt x="2399849" y="2399849"/>
                </a:lnTo>
                <a:lnTo>
                  <a:pt x="0" y="2399849"/>
                </a:lnTo>
                <a:lnTo>
                  <a:pt x="0" y="0"/>
                </a:lnTo>
                <a:close/>
              </a:path>
            </a:pathLst>
          </a:custGeom>
          <a:blipFill>
            <a:blip r:embed="rId3"/>
            <a:stretch>
              <a:fillRect l="0" t="0" r="0" b="0"/>
            </a:stretch>
          </a:blipFill>
        </p:spPr>
      </p:sp>
      <p:sp>
        <p:nvSpPr>
          <p:cNvPr name="Freeform 10" id="10"/>
          <p:cNvSpPr/>
          <p:nvPr/>
        </p:nvSpPr>
        <p:spPr>
          <a:xfrm flipH="false" flipV="false" rot="0">
            <a:off x="-4790" y="0"/>
            <a:ext cx="1960590" cy="2281071"/>
          </a:xfrm>
          <a:custGeom>
            <a:avLst/>
            <a:gdLst/>
            <a:ahLst/>
            <a:cxnLst/>
            <a:rect r="r" b="b" t="t" l="l"/>
            <a:pathLst>
              <a:path h="2281071" w="1960590">
                <a:moveTo>
                  <a:pt x="0" y="0"/>
                </a:moveTo>
                <a:lnTo>
                  <a:pt x="1960590" y="0"/>
                </a:lnTo>
                <a:lnTo>
                  <a:pt x="1960590" y="2281071"/>
                </a:lnTo>
                <a:lnTo>
                  <a:pt x="0" y="2281071"/>
                </a:lnTo>
                <a:lnTo>
                  <a:pt x="0" y="0"/>
                </a:lnTo>
                <a:close/>
              </a:path>
            </a:pathLst>
          </a:custGeom>
          <a:blipFill>
            <a:blip r:embed="rId4"/>
            <a:stretch>
              <a:fillRect l="0" t="0" r="0" b="0"/>
            </a:stretch>
          </a:blipFill>
        </p:spPr>
      </p:sp>
      <p:sp>
        <p:nvSpPr>
          <p:cNvPr name="TextBox 11" id="11"/>
          <p:cNvSpPr txBox="true"/>
          <p:nvPr/>
        </p:nvSpPr>
        <p:spPr>
          <a:xfrm rot="0">
            <a:off x="4298000" y="598896"/>
            <a:ext cx="8404364" cy="1078232"/>
          </a:xfrm>
          <a:prstGeom prst="rect">
            <a:avLst/>
          </a:prstGeom>
        </p:spPr>
        <p:txBody>
          <a:bodyPr anchor="t" rtlCol="false" tIns="0" lIns="0" bIns="0" rIns="0">
            <a:spAutoFit/>
          </a:bodyPr>
          <a:lstStyle/>
          <a:p>
            <a:pPr algn="ctr">
              <a:lnSpc>
                <a:spcPts val="8819"/>
              </a:lnSpc>
            </a:pPr>
            <a:r>
              <a:rPr lang="en-US" b="true" sz="6299">
                <a:solidFill>
                  <a:srgbClr val="004AAD"/>
                </a:solidFill>
                <a:latin typeface="League Spartan"/>
                <a:ea typeface="League Spartan"/>
                <a:cs typeface="League Spartan"/>
                <a:sym typeface="League Spartan"/>
              </a:rPr>
              <a:t>TABLE OF CONTENT</a:t>
            </a:r>
          </a:p>
        </p:txBody>
      </p:sp>
      <p:sp>
        <p:nvSpPr>
          <p:cNvPr name="TextBox 12" id="12"/>
          <p:cNvSpPr txBox="true"/>
          <p:nvPr/>
        </p:nvSpPr>
        <p:spPr>
          <a:xfrm rot="0">
            <a:off x="5089663" y="2214396"/>
            <a:ext cx="10294193" cy="7180595"/>
          </a:xfrm>
          <a:prstGeom prst="rect">
            <a:avLst/>
          </a:prstGeom>
        </p:spPr>
        <p:txBody>
          <a:bodyPr anchor="t" rtlCol="false" tIns="0" lIns="0" bIns="0" rIns="0">
            <a:spAutoFit/>
          </a:bodyPr>
          <a:lstStyle/>
          <a:p>
            <a:pPr algn="l" marL="739328" indent="-369664" lvl="1">
              <a:lnSpc>
                <a:spcPts val="4794"/>
              </a:lnSpc>
              <a:buAutoNum type="arabicPeriod" startAt="1"/>
            </a:pPr>
            <a:r>
              <a:rPr lang="en-US" sz="3424">
                <a:solidFill>
                  <a:srgbClr val="131003"/>
                </a:solidFill>
                <a:latin typeface="Archivo Black"/>
                <a:ea typeface="Archivo Black"/>
                <a:cs typeface="Archivo Black"/>
                <a:sym typeface="Archivo Black"/>
              </a:rPr>
              <a:t>Intr</a:t>
            </a:r>
            <a:r>
              <a:rPr lang="en-US" sz="3424">
                <a:solidFill>
                  <a:srgbClr val="131003"/>
                </a:solidFill>
                <a:latin typeface="Archivo Black"/>
                <a:ea typeface="Archivo Black"/>
                <a:cs typeface="Archivo Black"/>
                <a:sym typeface="Archivo Black"/>
              </a:rPr>
              <a:t>oduction </a:t>
            </a:r>
          </a:p>
          <a:p>
            <a:pPr algn="l" marL="739328" indent="-369664" lvl="1">
              <a:lnSpc>
                <a:spcPts val="4794"/>
              </a:lnSpc>
              <a:buAutoNum type="arabicPeriod" startAt="1"/>
            </a:pPr>
            <a:r>
              <a:rPr lang="en-US" sz="3424">
                <a:solidFill>
                  <a:srgbClr val="131003"/>
                </a:solidFill>
                <a:latin typeface="Archivo Black"/>
                <a:ea typeface="Archivo Black"/>
                <a:cs typeface="Archivo Black"/>
                <a:sym typeface="Archivo Black"/>
              </a:rPr>
              <a:t>Problem Statement </a:t>
            </a:r>
          </a:p>
          <a:p>
            <a:pPr algn="l" marL="739328" indent="-369664" lvl="1">
              <a:lnSpc>
                <a:spcPts val="4794"/>
              </a:lnSpc>
              <a:buAutoNum type="arabicPeriod" startAt="1"/>
            </a:pPr>
            <a:r>
              <a:rPr lang="en-US" sz="3424">
                <a:solidFill>
                  <a:srgbClr val="131003"/>
                </a:solidFill>
                <a:latin typeface="Archivo Black"/>
                <a:ea typeface="Archivo Black"/>
                <a:cs typeface="Archivo Black"/>
                <a:sym typeface="Archivo Black"/>
              </a:rPr>
              <a:t>Main Objective</a:t>
            </a:r>
          </a:p>
          <a:p>
            <a:pPr algn="l" marL="739328" indent="-369664" lvl="1">
              <a:lnSpc>
                <a:spcPts val="4794"/>
              </a:lnSpc>
              <a:buAutoNum type="arabicPeriod" startAt="1"/>
            </a:pPr>
            <a:r>
              <a:rPr lang="en-US" sz="3424">
                <a:solidFill>
                  <a:srgbClr val="131003"/>
                </a:solidFill>
                <a:latin typeface="Archivo Black"/>
                <a:ea typeface="Archivo Black"/>
                <a:cs typeface="Archivo Black"/>
                <a:sym typeface="Archivo Black"/>
              </a:rPr>
              <a:t>Specific Objective</a:t>
            </a:r>
          </a:p>
          <a:p>
            <a:pPr algn="l" marL="739328" indent="-369664" lvl="1">
              <a:lnSpc>
                <a:spcPts val="4794"/>
              </a:lnSpc>
              <a:buAutoNum type="arabicPeriod" startAt="1"/>
            </a:pPr>
            <a:r>
              <a:rPr lang="en-US" sz="3424">
                <a:solidFill>
                  <a:srgbClr val="131003"/>
                </a:solidFill>
                <a:latin typeface="Archivo Black"/>
                <a:ea typeface="Archivo Black"/>
                <a:cs typeface="Archivo Black"/>
                <a:sym typeface="Archivo Black"/>
              </a:rPr>
              <a:t>Scope</a:t>
            </a:r>
          </a:p>
          <a:p>
            <a:pPr algn="l" marL="739328" indent="-369664" lvl="1">
              <a:lnSpc>
                <a:spcPts val="4794"/>
              </a:lnSpc>
              <a:buAutoNum type="arabicPeriod" startAt="1"/>
            </a:pPr>
            <a:r>
              <a:rPr lang="en-US" sz="3424">
                <a:solidFill>
                  <a:srgbClr val="131003"/>
                </a:solidFill>
                <a:latin typeface="Archivo Black"/>
                <a:ea typeface="Archivo Black"/>
                <a:cs typeface="Archivo Black"/>
                <a:sym typeface="Archivo Black"/>
              </a:rPr>
              <a:t>Benefits</a:t>
            </a:r>
          </a:p>
          <a:p>
            <a:pPr algn="l" marL="739328" indent="-369664" lvl="1">
              <a:lnSpc>
                <a:spcPts val="4794"/>
              </a:lnSpc>
              <a:buAutoNum type="arabicPeriod" startAt="1"/>
            </a:pPr>
            <a:r>
              <a:rPr lang="en-US" sz="3424">
                <a:solidFill>
                  <a:srgbClr val="131003"/>
                </a:solidFill>
                <a:latin typeface="Archivo Black"/>
                <a:ea typeface="Archivo Black"/>
                <a:cs typeface="Archivo Black"/>
                <a:sym typeface="Archivo Black"/>
              </a:rPr>
              <a:t>Conceptual Diagram</a:t>
            </a:r>
          </a:p>
          <a:p>
            <a:pPr algn="l" marL="739328" indent="-369664" lvl="1">
              <a:lnSpc>
                <a:spcPts val="4794"/>
              </a:lnSpc>
              <a:buAutoNum type="arabicPeriod" startAt="1"/>
            </a:pPr>
            <a:r>
              <a:rPr lang="en-US" sz="3424">
                <a:solidFill>
                  <a:srgbClr val="131003"/>
                </a:solidFill>
                <a:latin typeface="Archivo Black"/>
                <a:ea typeface="Archivo Black"/>
                <a:cs typeface="Archivo Black"/>
                <a:sym typeface="Archivo Black"/>
              </a:rPr>
              <a:t>Technology</a:t>
            </a:r>
          </a:p>
          <a:p>
            <a:pPr algn="l" marL="739328" indent="-369664" lvl="1">
              <a:lnSpc>
                <a:spcPts val="4794"/>
              </a:lnSpc>
              <a:buAutoNum type="arabicPeriod" startAt="1"/>
            </a:pPr>
            <a:r>
              <a:rPr lang="en-US" sz="3424">
                <a:solidFill>
                  <a:srgbClr val="131003"/>
                </a:solidFill>
                <a:latin typeface="Archivo Black"/>
                <a:ea typeface="Archivo Black"/>
                <a:cs typeface="Archivo Black"/>
                <a:sym typeface="Archivo Black"/>
              </a:rPr>
              <a:t>Project Timeline</a:t>
            </a:r>
          </a:p>
          <a:p>
            <a:pPr algn="l" marL="739328" indent="-369664" lvl="1">
              <a:lnSpc>
                <a:spcPts val="4794"/>
              </a:lnSpc>
              <a:buAutoNum type="arabicPeriod" startAt="1"/>
            </a:pPr>
            <a:r>
              <a:rPr lang="en-US" sz="3424">
                <a:solidFill>
                  <a:srgbClr val="131003"/>
                </a:solidFill>
                <a:latin typeface="Archivo Black"/>
                <a:ea typeface="Archivo Black"/>
                <a:cs typeface="Archivo Black"/>
                <a:sym typeface="Archivo Black"/>
              </a:rPr>
              <a:t>Conclusion</a:t>
            </a:r>
          </a:p>
          <a:p>
            <a:pPr algn="l">
              <a:lnSpc>
                <a:spcPts val="4794"/>
              </a:lnSpc>
            </a:pPr>
            <a:r>
              <a:rPr lang="en-US" sz="3424">
                <a:solidFill>
                  <a:srgbClr val="131003"/>
                </a:solidFill>
                <a:latin typeface="Archivo Black"/>
                <a:ea typeface="Archivo Black"/>
                <a:cs typeface="Archivo Black"/>
                <a:sym typeface="Archivo Black"/>
              </a:rPr>
              <a:t>11.Questions And Answers</a:t>
            </a:r>
          </a:p>
          <a:p>
            <a:pPr algn="ctr">
              <a:lnSpc>
                <a:spcPts val="4794"/>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130300" y="4057750"/>
            <a:ext cx="3086100" cy="2171499"/>
            <a:chOff x="0" y="0"/>
            <a:chExt cx="812800" cy="571917"/>
          </a:xfrm>
        </p:grpSpPr>
        <p:sp>
          <p:nvSpPr>
            <p:cNvPr name="Freeform 4" id="4"/>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5" id="5"/>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6467343" y="4057750"/>
            <a:ext cx="3086100" cy="2171499"/>
            <a:chOff x="0" y="0"/>
            <a:chExt cx="812800" cy="571917"/>
          </a:xfrm>
        </p:grpSpPr>
        <p:sp>
          <p:nvSpPr>
            <p:cNvPr name="Freeform 7" id="7"/>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8" id="8"/>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5888151" y="0"/>
            <a:ext cx="2399849" cy="2399849"/>
          </a:xfrm>
          <a:custGeom>
            <a:avLst/>
            <a:gdLst/>
            <a:ahLst/>
            <a:cxnLst/>
            <a:rect r="r" b="b" t="t" l="l"/>
            <a:pathLst>
              <a:path h="2399849" w="2399849">
                <a:moveTo>
                  <a:pt x="0" y="0"/>
                </a:moveTo>
                <a:lnTo>
                  <a:pt x="2399849" y="0"/>
                </a:lnTo>
                <a:lnTo>
                  <a:pt x="2399849" y="2399849"/>
                </a:lnTo>
                <a:lnTo>
                  <a:pt x="0" y="2399849"/>
                </a:lnTo>
                <a:lnTo>
                  <a:pt x="0" y="0"/>
                </a:lnTo>
                <a:close/>
              </a:path>
            </a:pathLst>
          </a:custGeom>
          <a:blipFill>
            <a:blip r:embed="rId3"/>
            <a:stretch>
              <a:fillRect l="0" t="0" r="0" b="0"/>
            </a:stretch>
          </a:blipFill>
        </p:spPr>
      </p:sp>
      <p:sp>
        <p:nvSpPr>
          <p:cNvPr name="Freeform 10" id="10"/>
          <p:cNvSpPr/>
          <p:nvPr/>
        </p:nvSpPr>
        <p:spPr>
          <a:xfrm flipH="false" flipV="false" rot="0">
            <a:off x="-4790" y="0"/>
            <a:ext cx="1960590" cy="2281071"/>
          </a:xfrm>
          <a:custGeom>
            <a:avLst/>
            <a:gdLst/>
            <a:ahLst/>
            <a:cxnLst/>
            <a:rect r="r" b="b" t="t" l="l"/>
            <a:pathLst>
              <a:path h="2281071" w="1960590">
                <a:moveTo>
                  <a:pt x="0" y="0"/>
                </a:moveTo>
                <a:lnTo>
                  <a:pt x="1960590" y="0"/>
                </a:lnTo>
                <a:lnTo>
                  <a:pt x="1960590" y="2281071"/>
                </a:lnTo>
                <a:lnTo>
                  <a:pt x="0" y="2281071"/>
                </a:lnTo>
                <a:lnTo>
                  <a:pt x="0" y="0"/>
                </a:lnTo>
                <a:close/>
              </a:path>
            </a:pathLst>
          </a:custGeom>
          <a:blipFill>
            <a:blip r:embed="rId4"/>
            <a:stretch>
              <a:fillRect l="0" t="0" r="0" b="0"/>
            </a:stretch>
          </a:blipFill>
        </p:spPr>
      </p:sp>
      <p:sp>
        <p:nvSpPr>
          <p:cNvPr name="TextBox 11" id="11"/>
          <p:cNvSpPr txBox="true"/>
          <p:nvPr/>
        </p:nvSpPr>
        <p:spPr>
          <a:xfrm rot="0">
            <a:off x="4719793" y="590641"/>
            <a:ext cx="8404364" cy="1094742"/>
          </a:xfrm>
          <a:prstGeom prst="rect">
            <a:avLst/>
          </a:prstGeom>
        </p:spPr>
        <p:txBody>
          <a:bodyPr anchor="t" rtlCol="false" tIns="0" lIns="0" bIns="0" rIns="0">
            <a:spAutoFit/>
          </a:bodyPr>
          <a:lstStyle/>
          <a:p>
            <a:pPr algn="ctr">
              <a:lnSpc>
                <a:spcPts val="8959"/>
              </a:lnSpc>
            </a:pPr>
            <a:r>
              <a:rPr lang="en-US" b="true" sz="6399">
                <a:solidFill>
                  <a:srgbClr val="004AAD"/>
                </a:solidFill>
                <a:latin typeface="League Spartan"/>
                <a:ea typeface="League Spartan"/>
                <a:cs typeface="League Spartan"/>
                <a:sym typeface="League Spartan"/>
              </a:rPr>
              <a:t>INTRODUCTION</a:t>
            </a:r>
          </a:p>
        </p:txBody>
      </p:sp>
      <p:sp>
        <p:nvSpPr>
          <p:cNvPr name="TextBox 12" id="12"/>
          <p:cNvSpPr txBox="true"/>
          <p:nvPr/>
        </p:nvSpPr>
        <p:spPr>
          <a:xfrm rot="0">
            <a:off x="2213027" y="3981550"/>
            <a:ext cx="13417897" cy="2990216"/>
          </a:xfrm>
          <a:prstGeom prst="rect">
            <a:avLst/>
          </a:prstGeom>
        </p:spPr>
        <p:txBody>
          <a:bodyPr anchor="t" rtlCol="false" tIns="0" lIns="0" bIns="0" rIns="0">
            <a:spAutoFit/>
          </a:bodyPr>
          <a:lstStyle/>
          <a:p>
            <a:pPr algn="l">
              <a:lnSpc>
                <a:spcPts val="4759"/>
              </a:lnSpc>
            </a:pPr>
            <a:r>
              <a:rPr lang="en-US" sz="3399">
                <a:solidFill>
                  <a:srgbClr val="131003"/>
                </a:solidFill>
                <a:latin typeface="Archivo Black"/>
                <a:ea typeface="Archivo Black"/>
                <a:cs typeface="Archivo Black"/>
                <a:sym typeface="Archivo Black"/>
              </a:rPr>
              <a:t>DAIRE is reputation engine that is will help to provide credit scores for customers and groups. Example entrepreneurs, small groups of women and youth, farmers and peasant farmers.</a:t>
            </a:r>
          </a:p>
          <a:p>
            <a:pPr algn="l">
              <a:lnSpc>
                <a:spcPts val="4759"/>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130300" y="4057750"/>
            <a:ext cx="3086100" cy="2171499"/>
            <a:chOff x="0" y="0"/>
            <a:chExt cx="812800" cy="571917"/>
          </a:xfrm>
        </p:grpSpPr>
        <p:sp>
          <p:nvSpPr>
            <p:cNvPr name="Freeform 4" id="4"/>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5" id="5"/>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6467343" y="4057750"/>
            <a:ext cx="3086100" cy="2171499"/>
            <a:chOff x="0" y="0"/>
            <a:chExt cx="812800" cy="571917"/>
          </a:xfrm>
        </p:grpSpPr>
        <p:sp>
          <p:nvSpPr>
            <p:cNvPr name="Freeform 7" id="7"/>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8" id="8"/>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5888151" y="0"/>
            <a:ext cx="2399849" cy="2399849"/>
          </a:xfrm>
          <a:custGeom>
            <a:avLst/>
            <a:gdLst/>
            <a:ahLst/>
            <a:cxnLst/>
            <a:rect r="r" b="b" t="t" l="l"/>
            <a:pathLst>
              <a:path h="2399849" w="2399849">
                <a:moveTo>
                  <a:pt x="0" y="0"/>
                </a:moveTo>
                <a:lnTo>
                  <a:pt x="2399849" y="0"/>
                </a:lnTo>
                <a:lnTo>
                  <a:pt x="2399849" y="2399849"/>
                </a:lnTo>
                <a:lnTo>
                  <a:pt x="0" y="2399849"/>
                </a:lnTo>
                <a:lnTo>
                  <a:pt x="0" y="0"/>
                </a:lnTo>
                <a:close/>
              </a:path>
            </a:pathLst>
          </a:custGeom>
          <a:blipFill>
            <a:blip r:embed="rId3"/>
            <a:stretch>
              <a:fillRect l="0" t="0" r="0" b="0"/>
            </a:stretch>
          </a:blipFill>
        </p:spPr>
      </p:sp>
      <p:sp>
        <p:nvSpPr>
          <p:cNvPr name="Freeform 10" id="10"/>
          <p:cNvSpPr/>
          <p:nvPr/>
        </p:nvSpPr>
        <p:spPr>
          <a:xfrm flipH="false" flipV="false" rot="0">
            <a:off x="-4790" y="0"/>
            <a:ext cx="1960590" cy="2281071"/>
          </a:xfrm>
          <a:custGeom>
            <a:avLst/>
            <a:gdLst/>
            <a:ahLst/>
            <a:cxnLst/>
            <a:rect r="r" b="b" t="t" l="l"/>
            <a:pathLst>
              <a:path h="2281071" w="1960590">
                <a:moveTo>
                  <a:pt x="0" y="0"/>
                </a:moveTo>
                <a:lnTo>
                  <a:pt x="1960590" y="0"/>
                </a:lnTo>
                <a:lnTo>
                  <a:pt x="1960590" y="2281071"/>
                </a:lnTo>
                <a:lnTo>
                  <a:pt x="0" y="2281071"/>
                </a:lnTo>
                <a:lnTo>
                  <a:pt x="0" y="0"/>
                </a:lnTo>
                <a:close/>
              </a:path>
            </a:pathLst>
          </a:custGeom>
          <a:blipFill>
            <a:blip r:embed="rId4"/>
            <a:stretch>
              <a:fillRect l="0" t="0" r="0" b="0"/>
            </a:stretch>
          </a:blipFill>
        </p:spPr>
      </p:sp>
      <p:sp>
        <p:nvSpPr>
          <p:cNvPr name="TextBox 11" id="11"/>
          <p:cNvSpPr txBox="true"/>
          <p:nvPr/>
        </p:nvSpPr>
        <p:spPr>
          <a:xfrm rot="0">
            <a:off x="4353744" y="1076100"/>
            <a:ext cx="9982878" cy="1078232"/>
          </a:xfrm>
          <a:prstGeom prst="rect">
            <a:avLst/>
          </a:prstGeom>
        </p:spPr>
        <p:txBody>
          <a:bodyPr anchor="t" rtlCol="false" tIns="0" lIns="0" bIns="0" rIns="0">
            <a:spAutoFit/>
          </a:bodyPr>
          <a:lstStyle/>
          <a:p>
            <a:pPr algn="ctr">
              <a:lnSpc>
                <a:spcPts val="8819"/>
              </a:lnSpc>
            </a:pPr>
            <a:r>
              <a:rPr lang="en-US" b="true" sz="6299">
                <a:solidFill>
                  <a:srgbClr val="004AAD"/>
                </a:solidFill>
                <a:latin typeface="League Spartan"/>
                <a:ea typeface="League Spartan"/>
                <a:cs typeface="League Spartan"/>
                <a:sym typeface="League Spartan"/>
              </a:rPr>
              <a:t>PROBLEM STATEMENT</a:t>
            </a:r>
          </a:p>
        </p:txBody>
      </p:sp>
      <p:sp>
        <p:nvSpPr>
          <p:cNvPr name="TextBox 12" id="12"/>
          <p:cNvSpPr txBox="true"/>
          <p:nvPr/>
        </p:nvSpPr>
        <p:spPr>
          <a:xfrm rot="0">
            <a:off x="2089412" y="3981550"/>
            <a:ext cx="14511543" cy="4128142"/>
          </a:xfrm>
          <a:prstGeom prst="rect">
            <a:avLst/>
          </a:prstGeom>
        </p:spPr>
        <p:txBody>
          <a:bodyPr anchor="t" rtlCol="false" tIns="0" lIns="0" bIns="0" rIns="0">
            <a:spAutoFit/>
          </a:bodyPr>
          <a:lstStyle/>
          <a:p>
            <a:pPr algn="l">
              <a:lnSpc>
                <a:spcPts val="4759"/>
              </a:lnSpc>
            </a:pPr>
            <a:r>
              <a:rPr lang="en-US" sz="3399">
                <a:solidFill>
                  <a:srgbClr val="131003"/>
                </a:solidFill>
                <a:latin typeface="Archivo Black"/>
                <a:ea typeface="Archivo Black"/>
                <a:cs typeface="Archivo Black"/>
                <a:sym typeface="Archivo Black"/>
              </a:rPr>
              <a:t>In Tanzania, small-scale farmers, youth, and women often struggle to access suitable loans due to limited credit information and the lack of accurate assessment of how much they can responsibly borrow. This limits their ability to sustain and grow their livelihoods, contributing to poverty and reduced national income.</a:t>
            </a:r>
          </a:p>
          <a:p>
            <a:pPr algn="ctr">
              <a:lnSpc>
                <a:spcPts val="4269"/>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130300" y="4057750"/>
            <a:ext cx="3086100" cy="2171499"/>
            <a:chOff x="0" y="0"/>
            <a:chExt cx="812800" cy="571917"/>
          </a:xfrm>
        </p:grpSpPr>
        <p:sp>
          <p:nvSpPr>
            <p:cNvPr name="Freeform 4" id="4"/>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5" id="5"/>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6467343" y="4057750"/>
            <a:ext cx="3086100" cy="2171499"/>
            <a:chOff x="0" y="0"/>
            <a:chExt cx="812800" cy="571917"/>
          </a:xfrm>
        </p:grpSpPr>
        <p:sp>
          <p:nvSpPr>
            <p:cNvPr name="Freeform 7" id="7"/>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8" id="8"/>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5888151" y="0"/>
            <a:ext cx="2399849" cy="2399849"/>
          </a:xfrm>
          <a:custGeom>
            <a:avLst/>
            <a:gdLst/>
            <a:ahLst/>
            <a:cxnLst/>
            <a:rect r="r" b="b" t="t" l="l"/>
            <a:pathLst>
              <a:path h="2399849" w="2399849">
                <a:moveTo>
                  <a:pt x="0" y="0"/>
                </a:moveTo>
                <a:lnTo>
                  <a:pt x="2399849" y="0"/>
                </a:lnTo>
                <a:lnTo>
                  <a:pt x="2399849" y="2399849"/>
                </a:lnTo>
                <a:lnTo>
                  <a:pt x="0" y="2399849"/>
                </a:lnTo>
                <a:lnTo>
                  <a:pt x="0" y="0"/>
                </a:lnTo>
                <a:close/>
              </a:path>
            </a:pathLst>
          </a:custGeom>
          <a:blipFill>
            <a:blip r:embed="rId3"/>
            <a:stretch>
              <a:fillRect l="0" t="0" r="0" b="0"/>
            </a:stretch>
          </a:blipFill>
        </p:spPr>
      </p:sp>
      <p:sp>
        <p:nvSpPr>
          <p:cNvPr name="Freeform 10" id="10"/>
          <p:cNvSpPr/>
          <p:nvPr/>
        </p:nvSpPr>
        <p:spPr>
          <a:xfrm flipH="false" flipV="false" rot="0">
            <a:off x="-4790" y="0"/>
            <a:ext cx="1960590" cy="2281071"/>
          </a:xfrm>
          <a:custGeom>
            <a:avLst/>
            <a:gdLst/>
            <a:ahLst/>
            <a:cxnLst/>
            <a:rect r="r" b="b" t="t" l="l"/>
            <a:pathLst>
              <a:path h="2281071" w="1960590">
                <a:moveTo>
                  <a:pt x="0" y="0"/>
                </a:moveTo>
                <a:lnTo>
                  <a:pt x="1960590" y="0"/>
                </a:lnTo>
                <a:lnTo>
                  <a:pt x="1960590" y="2281071"/>
                </a:lnTo>
                <a:lnTo>
                  <a:pt x="0" y="2281071"/>
                </a:lnTo>
                <a:lnTo>
                  <a:pt x="0" y="0"/>
                </a:lnTo>
                <a:close/>
              </a:path>
            </a:pathLst>
          </a:custGeom>
          <a:blipFill>
            <a:blip r:embed="rId4"/>
            <a:stretch>
              <a:fillRect l="0" t="0" r="0" b="0"/>
            </a:stretch>
          </a:blipFill>
        </p:spPr>
      </p:sp>
      <p:sp>
        <p:nvSpPr>
          <p:cNvPr name="TextBox 11" id="11"/>
          <p:cNvSpPr txBox="true"/>
          <p:nvPr/>
        </p:nvSpPr>
        <p:spPr>
          <a:xfrm rot="0">
            <a:off x="4725159" y="904875"/>
            <a:ext cx="8404364" cy="1078232"/>
          </a:xfrm>
          <a:prstGeom prst="rect">
            <a:avLst/>
          </a:prstGeom>
        </p:spPr>
        <p:txBody>
          <a:bodyPr anchor="t" rtlCol="false" tIns="0" lIns="0" bIns="0" rIns="0">
            <a:spAutoFit/>
          </a:bodyPr>
          <a:lstStyle/>
          <a:p>
            <a:pPr algn="ctr">
              <a:lnSpc>
                <a:spcPts val="8819"/>
              </a:lnSpc>
            </a:pPr>
            <a:r>
              <a:rPr lang="en-US" b="true" sz="6299">
                <a:solidFill>
                  <a:srgbClr val="004AAD"/>
                </a:solidFill>
                <a:latin typeface="League Spartan"/>
                <a:ea typeface="League Spartan"/>
                <a:cs typeface="League Spartan"/>
                <a:sym typeface="League Spartan"/>
              </a:rPr>
              <a:t>MAIN OBJECTIVE</a:t>
            </a:r>
          </a:p>
        </p:txBody>
      </p:sp>
      <p:sp>
        <p:nvSpPr>
          <p:cNvPr name="TextBox 12" id="12"/>
          <p:cNvSpPr txBox="true"/>
          <p:nvPr/>
        </p:nvSpPr>
        <p:spPr>
          <a:xfrm rot="0">
            <a:off x="2061511" y="3981550"/>
            <a:ext cx="13731661" cy="1790066"/>
          </a:xfrm>
          <a:prstGeom prst="rect">
            <a:avLst/>
          </a:prstGeom>
        </p:spPr>
        <p:txBody>
          <a:bodyPr anchor="t" rtlCol="false" tIns="0" lIns="0" bIns="0" rIns="0">
            <a:spAutoFit/>
          </a:bodyPr>
          <a:lstStyle/>
          <a:p>
            <a:pPr algn="ctr">
              <a:lnSpc>
                <a:spcPts val="4759"/>
              </a:lnSpc>
            </a:pPr>
            <a:r>
              <a:rPr lang="en-US" sz="3399">
                <a:solidFill>
                  <a:srgbClr val="131003"/>
                </a:solidFill>
                <a:latin typeface="Archivo Black"/>
                <a:ea typeface="Archivo Black"/>
                <a:cs typeface="Archivo Black"/>
                <a:sym typeface="Archivo Black"/>
              </a:rPr>
              <a:t>To develop Decentralized Ai Reputation Engine to provide credit score</a:t>
            </a:r>
          </a:p>
          <a:p>
            <a:pPr algn="ctr">
              <a:lnSpc>
                <a:spcPts val="4759"/>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130300" y="4057750"/>
            <a:ext cx="3086100" cy="2171499"/>
            <a:chOff x="0" y="0"/>
            <a:chExt cx="812800" cy="571917"/>
          </a:xfrm>
        </p:grpSpPr>
        <p:sp>
          <p:nvSpPr>
            <p:cNvPr name="Freeform 4" id="4"/>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5" id="5"/>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6467343" y="4057750"/>
            <a:ext cx="3086100" cy="2171499"/>
            <a:chOff x="0" y="0"/>
            <a:chExt cx="812800" cy="571917"/>
          </a:xfrm>
        </p:grpSpPr>
        <p:sp>
          <p:nvSpPr>
            <p:cNvPr name="Freeform 7" id="7"/>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8" id="8"/>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5888151" y="0"/>
            <a:ext cx="2399849" cy="2399849"/>
          </a:xfrm>
          <a:custGeom>
            <a:avLst/>
            <a:gdLst/>
            <a:ahLst/>
            <a:cxnLst/>
            <a:rect r="r" b="b" t="t" l="l"/>
            <a:pathLst>
              <a:path h="2399849" w="2399849">
                <a:moveTo>
                  <a:pt x="0" y="0"/>
                </a:moveTo>
                <a:lnTo>
                  <a:pt x="2399849" y="0"/>
                </a:lnTo>
                <a:lnTo>
                  <a:pt x="2399849" y="2399849"/>
                </a:lnTo>
                <a:lnTo>
                  <a:pt x="0" y="2399849"/>
                </a:lnTo>
                <a:lnTo>
                  <a:pt x="0" y="0"/>
                </a:lnTo>
                <a:close/>
              </a:path>
            </a:pathLst>
          </a:custGeom>
          <a:blipFill>
            <a:blip r:embed="rId3"/>
            <a:stretch>
              <a:fillRect l="0" t="0" r="0" b="0"/>
            </a:stretch>
          </a:blipFill>
        </p:spPr>
      </p:sp>
      <p:sp>
        <p:nvSpPr>
          <p:cNvPr name="Freeform 10" id="10"/>
          <p:cNvSpPr/>
          <p:nvPr/>
        </p:nvSpPr>
        <p:spPr>
          <a:xfrm flipH="false" flipV="false" rot="0">
            <a:off x="-4790" y="0"/>
            <a:ext cx="1960590" cy="2281071"/>
          </a:xfrm>
          <a:custGeom>
            <a:avLst/>
            <a:gdLst/>
            <a:ahLst/>
            <a:cxnLst/>
            <a:rect r="r" b="b" t="t" l="l"/>
            <a:pathLst>
              <a:path h="2281071" w="1960590">
                <a:moveTo>
                  <a:pt x="0" y="0"/>
                </a:moveTo>
                <a:lnTo>
                  <a:pt x="1960590" y="0"/>
                </a:lnTo>
                <a:lnTo>
                  <a:pt x="1960590" y="2281071"/>
                </a:lnTo>
                <a:lnTo>
                  <a:pt x="0" y="2281071"/>
                </a:lnTo>
                <a:lnTo>
                  <a:pt x="0" y="0"/>
                </a:lnTo>
                <a:close/>
              </a:path>
            </a:pathLst>
          </a:custGeom>
          <a:blipFill>
            <a:blip r:embed="rId4"/>
            <a:stretch>
              <a:fillRect l="0" t="0" r="0" b="0"/>
            </a:stretch>
          </a:blipFill>
        </p:spPr>
      </p:sp>
      <p:sp>
        <p:nvSpPr>
          <p:cNvPr name="TextBox 11" id="11"/>
          <p:cNvSpPr txBox="true"/>
          <p:nvPr/>
        </p:nvSpPr>
        <p:spPr>
          <a:xfrm rot="0">
            <a:off x="4069959" y="904875"/>
            <a:ext cx="9704032" cy="1078232"/>
          </a:xfrm>
          <a:prstGeom prst="rect">
            <a:avLst/>
          </a:prstGeom>
        </p:spPr>
        <p:txBody>
          <a:bodyPr anchor="t" rtlCol="false" tIns="0" lIns="0" bIns="0" rIns="0">
            <a:spAutoFit/>
          </a:bodyPr>
          <a:lstStyle/>
          <a:p>
            <a:pPr algn="ctr">
              <a:lnSpc>
                <a:spcPts val="8819"/>
              </a:lnSpc>
            </a:pPr>
            <a:r>
              <a:rPr lang="en-US" b="true" sz="6299">
                <a:solidFill>
                  <a:srgbClr val="004AAD"/>
                </a:solidFill>
                <a:latin typeface="League Spartan"/>
                <a:ea typeface="League Spartan"/>
                <a:cs typeface="League Spartan"/>
                <a:sym typeface="League Spartan"/>
              </a:rPr>
              <a:t>SPECIFIC OBJECTIVES</a:t>
            </a:r>
          </a:p>
        </p:txBody>
      </p:sp>
      <p:sp>
        <p:nvSpPr>
          <p:cNvPr name="TextBox 12" id="12"/>
          <p:cNvSpPr txBox="true"/>
          <p:nvPr/>
        </p:nvSpPr>
        <p:spPr>
          <a:xfrm rot="0">
            <a:off x="2760040" y="3981550"/>
            <a:ext cx="12767921" cy="2390141"/>
          </a:xfrm>
          <a:prstGeom prst="rect">
            <a:avLst/>
          </a:prstGeom>
        </p:spPr>
        <p:txBody>
          <a:bodyPr anchor="t" rtlCol="false" tIns="0" lIns="0" bIns="0" rIns="0">
            <a:spAutoFit/>
          </a:bodyPr>
          <a:lstStyle/>
          <a:p>
            <a:pPr algn="l" marL="734053" indent="-367026" lvl="1">
              <a:lnSpc>
                <a:spcPts val="4759"/>
              </a:lnSpc>
              <a:buFont typeface="Arial"/>
              <a:buChar char="•"/>
            </a:pPr>
            <a:r>
              <a:rPr lang="en-US" sz="3399">
                <a:solidFill>
                  <a:srgbClr val="131003"/>
                </a:solidFill>
                <a:latin typeface="Archivo Black"/>
                <a:ea typeface="Archivo Black"/>
                <a:cs typeface="Archivo Black"/>
                <a:sym typeface="Archivo Black"/>
              </a:rPr>
              <a:t>To calculate credit score </a:t>
            </a:r>
          </a:p>
          <a:p>
            <a:pPr algn="l" marL="734053" indent="-367026" lvl="1">
              <a:lnSpc>
                <a:spcPts val="4759"/>
              </a:lnSpc>
              <a:buFont typeface="Arial"/>
              <a:buChar char="•"/>
            </a:pPr>
            <a:r>
              <a:rPr lang="en-US" sz="3399">
                <a:solidFill>
                  <a:srgbClr val="131003"/>
                </a:solidFill>
                <a:latin typeface="Archivo Black"/>
                <a:ea typeface="Archivo Black"/>
                <a:cs typeface="Archivo Black"/>
                <a:sym typeface="Archivo Black"/>
              </a:rPr>
              <a:t>To intergratelenders systems and blockchain</a:t>
            </a:r>
          </a:p>
          <a:p>
            <a:pPr algn="l" marL="734053" indent="-367026" lvl="1">
              <a:lnSpc>
                <a:spcPts val="4759"/>
              </a:lnSpc>
              <a:buFont typeface="Arial"/>
              <a:buChar char="•"/>
            </a:pPr>
            <a:r>
              <a:rPr lang="en-US" sz="3399">
                <a:solidFill>
                  <a:srgbClr val="131003"/>
                </a:solidFill>
                <a:latin typeface="Archivo Black"/>
                <a:ea typeface="Archivo Black"/>
                <a:cs typeface="Archivo Black"/>
                <a:sym typeface="Archivo Black"/>
              </a:rPr>
              <a:t>To develop AI model for credit evaluation</a:t>
            </a:r>
          </a:p>
          <a:p>
            <a:pPr algn="l">
              <a:lnSpc>
                <a:spcPts val="4759"/>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130300" y="4057750"/>
            <a:ext cx="3086100" cy="2171499"/>
            <a:chOff x="0" y="0"/>
            <a:chExt cx="812800" cy="571917"/>
          </a:xfrm>
        </p:grpSpPr>
        <p:sp>
          <p:nvSpPr>
            <p:cNvPr name="Freeform 4" id="4"/>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5" id="5"/>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6467343" y="4057750"/>
            <a:ext cx="3086100" cy="2171499"/>
            <a:chOff x="0" y="0"/>
            <a:chExt cx="812800" cy="571917"/>
          </a:xfrm>
        </p:grpSpPr>
        <p:sp>
          <p:nvSpPr>
            <p:cNvPr name="Freeform 7" id="7"/>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8" id="8"/>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5888151" y="0"/>
            <a:ext cx="2399849" cy="2399849"/>
          </a:xfrm>
          <a:custGeom>
            <a:avLst/>
            <a:gdLst/>
            <a:ahLst/>
            <a:cxnLst/>
            <a:rect r="r" b="b" t="t" l="l"/>
            <a:pathLst>
              <a:path h="2399849" w="2399849">
                <a:moveTo>
                  <a:pt x="0" y="0"/>
                </a:moveTo>
                <a:lnTo>
                  <a:pt x="2399849" y="0"/>
                </a:lnTo>
                <a:lnTo>
                  <a:pt x="2399849" y="2399849"/>
                </a:lnTo>
                <a:lnTo>
                  <a:pt x="0" y="2399849"/>
                </a:lnTo>
                <a:lnTo>
                  <a:pt x="0" y="0"/>
                </a:lnTo>
                <a:close/>
              </a:path>
            </a:pathLst>
          </a:custGeom>
          <a:blipFill>
            <a:blip r:embed="rId3"/>
            <a:stretch>
              <a:fillRect l="0" t="0" r="0" b="0"/>
            </a:stretch>
          </a:blipFill>
        </p:spPr>
      </p:sp>
      <p:sp>
        <p:nvSpPr>
          <p:cNvPr name="Freeform 10" id="10"/>
          <p:cNvSpPr/>
          <p:nvPr/>
        </p:nvSpPr>
        <p:spPr>
          <a:xfrm flipH="false" flipV="false" rot="0">
            <a:off x="-4790" y="0"/>
            <a:ext cx="1960590" cy="2281071"/>
          </a:xfrm>
          <a:custGeom>
            <a:avLst/>
            <a:gdLst/>
            <a:ahLst/>
            <a:cxnLst/>
            <a:rect r="r" b="b" t="t" l="l"/>
            <a:pathLst>
              <a:path h="2281071" w="1960590">
                <a:moveTo>
                  <a:pt x="0" y="0"/>
                </a:moveTo>
                <a:lnTo>
                  <a:pt x="1960590" y="0"/>
                </a:lnTo>
                <a:lnTo>
                  <a:pt x="1960590" y="2281071"/>
                </a:lnTo>
                <a:lnTo>
                  <a:pt x="0" y="2281071"/>
                </a:lnTo>
                <a:lnTo>
                  <a:pt x="0" y="0"/>
                </a:lnTo>
                <a:close/>
              </a:path>
            </a:pathLst>
          </a:custGeom>
          <a:blipFill>
            <a:blip r:embed="rId4"/>
            <a:stretch>
              <a:fillRect l="0" t="0" r="0" b="0"/>
            </a:stretch>
          </a:blipFill>
        </p:spPr>
      </p:sp>
      <p:sp>
        <p:nvSpPr>
          <p:cNvPr name="TextBox 11" id="11"/>
          <p:cNvSpPr txBox="true"/>
          <p:nvPr/>
        </p:nvSpPr>
        <p:spPr>
          <a:xfrm rot="0">
            <a:off x="4122840" y="598896"/>
            <a:ext cx="8404364" cy="1078232"/>
          </a:xfrm>
          <a:prstGeom prst="rect">
            <a:avLst/>
          </a:prstGeom>
        </p:spPr>
        <p:txBody>
          <a:bodyPr anchor="t" rtlCol="false" tIns="0" lIns="0" bIns="0" rIns="0">
            <a:spAutoFit/>
          </a:bodyPr>
          <a:lstStyle/>
          <a:p>
            <a:pPr algn="ctr">
              <a:lnSpc>
                <a:spcPts val="8819"/>
              </a:lnSpc>
            </a:pPr>
            <a:r>
              <a:rPr lang="en-US" b="true" sz="6299">
                <a:solidFill>
                  <a:srgbClr val="004AAD"/>
                </a:solidFill>
                <a:latin typeface="League Spartan"/>
                <a:ea typeface="League Spartan"/>
                <a:cs typeface="League Spartan"/>
                <a:sym typeface="League Spartan"/>
              </a:rPr>
              <a:t>SCOPE</a:t>
            </a:r>
          </a:p>
        </p:txBody>
      </p:sp>
      <p:sp>
        <p:nvSpPr>
          <p:cNvPr name="TextBox 12" id="12"/>
          <p:cNvSpPr txBox="true"/>
          <p:nvPr/>
        </p:nvSpPr>
        <p:spPr>
          <a:xfrm rot="0">
            <a:off x="2235176" y="3991075"/>
            <a:ext cx="7139426" cy="3357245"/>
          </a:xfrm>
          <a:prstGeom prst="rect">
            <a:avLst/>
          </a:prstGeom>
        </p:spPr>
        <p:txBody>
          <a:bodyPr anchor="t" rtlCol="false" tIns="0" lIns="0" bIns="0" rIns="0">
            <a:spAutoFit/>
          </a:bodyPr>
          <a:lstStyle/>
          <a:p>
            <a:pPr algn="l">
              <a:lnSpc>
                <a:spcPts val="4480"/>
              </a:lnSpc>
            </a:pPr>
            <a:r>
              <a:rPr lang="en-US" sz="3200">
                <a:solidFill>
                  <a:srgbClr val="131003"/>
                </a:solidFill>
                <a:latin typeface="Archivo Black"/>
                <a:ea typeface="Archivo Black"/>
                <a:cs typeface="Archivo Black"/>
                <a:sym typeface="Archivo Black"/>
              </a:rPr>
              <a:t>1.Loan application and approval</a:t>
            </a:r>
          </a:p>
          <a:p>
            <a:pPr algn="l">
              <a:lnSpc>
                <a:spcPts val="4480"/>
              </a:lnSpc>
            </a:pPr>
            <a:r>
              <a:rPr lang="en-US" sz="3200">
                <a:solidFill>
                  <a:srgbClr val="131003"/>
                </a:solidFill>
                <a:latin typeface="Archivo Black"/>
                <a:ea typeface="Archivo Black"/>
                <a:cs typeface="Archivo Black"/>
                <a:sym typeface="Archivo Black"/>
              </a:rPr>
              <a:t>2.Loan disbursement and repayment management</a:t>
            </a:r>
          </a:p>
          <a:p>
            <a:pPr algn="l">
              <a:lnSpc>
                <a:spcPts val="4480"/>
              </a:lnSpc>
            </a:pPr>
            <a:r>
              <a:rPr lang="en-US" sz="3200">
                <a:solidFill>
                  <a:srgbClr val="131003"/>
                </a:solidFill>
                <a:latin typeface="Archivo Black"/>
                <a:ea typeface="Archivo Black"/>
                <a:cs typeface="Archivo Black"/>
                <a:sym typeface="Archivo Black"/>
              </a:rPr>
              <a:t>3.web3 ensure immutability of credit records </a:t>
            </a:r>
          </a:p>
          <a:p>
            <a:pPr algn="ctr">
              <a:lnSpc>
                <a:spcPts val="4480"/>
              </a:lnSpc>
              <a:spcBef>
                <a:spcPct val="0"/>
              </a:spcBef>
            </a:pPr>
          </a:p>
        </p:txBody>
      </p:sp>
      <p:sp>
        <p:nvSpPr>
          <p:cNvPr name="TextBox 13" id="13"/>
          <p:cNvSpPr txBox="true"/>
          <p:nvPr/>
        </p:nvSpPr>
        <p:spPr>
          <a:xfrm rot="0">
            <a:off x="2001299" y="2285549"/>
            <a:ext cx="5281283" cy="2245522"/>
          </a:xfrm>
          <a:prstGeom prst="rect">
            <a:avLst/>
          </a:prstGeom>
        </p:spPr>
        <p:txBody>
          <a:bodyPr anchor="t" rtlCol="false" tIns="0" lIns="0" bIns="0" rIns="0">
            <a:spAutoFit/>
          </a:bodyPr>
          <a:lstStyle/>
          <a:p>
            <a:pPr algn="l">
              <a:lnSpc>
                <a:spcPts val="7163"/>
              </a:lnSpc>
            </a:pPr>
            <a:r>
              <a:rPr lang="en-US" sz="5116">
                <a:solidFill>
                  <a:srgbClr val="004AAD"/>
                </a:solidFill>
                <a:latin typeface="Archivo Black"/>
                <a:ea typeface="Archivo Black"/>
                <a:cs typeface="Archivo Black"/>
                <a:sym typeface="Archivo Black"/>
              </a:rPr>
              <a:t> Inside scope </a:t>
            </a:r>
          </a:p>
          <a:p>
            <a:pPr algn="l">
              <a:lnSpc>
                <a:spcPts val="5727"/>
              </a:lnSpc>
            </a:pPr>
          </a:p>
          <a:p>
            <a:pPr algn="ctr">
              <a:lnSpc>
                <a:spcPts val="4901"/>
              </a:lnSpc>
              <a:spcBef>
                <a:spcPct val="0"/>
              </a:spcBef>
            </a:pPr>
          </a:p>
        </p:txBody>
      </p:sp>
      <p:sp>
        <p:nvSpPr>
          <p:cNvPr name="TextBox 14" id="14"/>
          <p:cNvSpPr txBox="true"/>
          <p:nvPr/>
        </p:nvSpPr>
        <p:spPr>
          <a:xfrm rot="0">
            <a:off x="9095226" y="2509457"/>
            <a:ext cx="6792925" cy="2202008"/>
          </a:xfrm>
          <a:prstGeom prst="rect">
            <a:avLst/>
          </a:prstGeom>
        </p:spPr>
        <p:txBody>
          <a:bodyPr anchor="t" rtlCol="false" tIns="0" lIns="0" bIns="0" rIns="0">
            <a:spAutoFit/>
          </a:bodyPr>
          <a:lstStyle/>
          <a:p>
            <a:pPr algn="l">
              <a:lnSpc>
                <a:spcPts val="6223"/>
              </a:lnSpc>
            </a:pPr>
            <a:r>
              <a:rPr lang="en-US" sz="4445">
                <a:solidFill>
                  <a:srgbClr val="004AAD"/>
                </a:solidFill>
                <a:latin typeface="Archivo Black"/>
                <a:ea typeface="Archivo Black"/>
                <a:cs typeface="Archivo Black"/>
                <a:sym typeface="Archivo Black"/>
              </a:rPr>
              <a:t> Outside scope </a:t>
            </a:r>
          </a:p>
          <a:p>
            <a:pPr algn="l">
              <a:lnSpc>
                <a:spcPts val="6197"/>
              </a:lnSpc>
            </a:pPr>
          </a:p>
          <a:p>
            <a:pPr algn="ctr">
              <a:lnSpc>
                <a:spcPts val="5135"/>
              </a:lnSpc>
              <a:spcBef>
                <a:spcPct val="0"/>
              </a:spcBef>
            </a:pPr>
          </a:p>
        </p:txBody>
      </p:sp>
      <p:sp>
        <p:nvSpPr>
          <p:cNvPr name="TextBox 15" id="15"/>
          <p:cNvSpPr txBox="true"/>
          <p:nvPr/>
        </p:nvSpPr>
        <p:spPr>
          <a:xfrm rot="0">
            <a:off x="9958777" y="3991075"/>
            <a:ext cx="7060976" cy="2795270"/>
          </a:xfrm>
          <a:prstGeom prst="rect">
            <a:avLst/>
          </a:prstGeom>
        </p:spPr>
        <p:txBody>
          <a:bodyPr anchor="t" rtlCol="false" tIns="0" lIns="0" bIns="0" rIns="0">
            <a:spAutoFit/>
          </a:bodyPr>
          <a:lstStyle/>
          <a:p>
            <a:pPr algn="l">
              <a:lnSpc>
                <a:spcPts val="4480"/>
              </a:lnSpc>
            </a:pPr>
            <a:r>
              <a:rPr lang="en-US" sz="3200">
                <a:solidFill>
                  <a:srgbClr val="131003"/>
                </a:solidFill>
                <a:latin typeface="Archivo Black"/>
                <a:ea typeface="Archivo Black"/>
                <a:cs typeface="Archivo Black"/>
                <a:sym typeface="Archivo Black"/>
              </a:rPr>
              <a:t>1.AI will not predict credit score</a:t>
            </a:r>
          </a:p>
          <a:p>
            <a:pPr algn="l">
              <a:lnSpc>
                <a:spcPts val="4480"/>
              </a:lnSpc>
            </a:pPr>
            <a:r>
              <a:rPr lang="en-US" sz="3200">
                <a:solidFill>
                  <a:srgbClr val="131003"/>
                </a:solidFill>
                <a:latin typeface="Archivo Black"/>
                <a:ea typeface="Archivo Black"/>
                <a:cs typeface="Archivo Black"/>
                <a:sym typeface="Archivo Black"/>
              </a:rPr>
              <a:t>2.Debt collection and loan recovery services</a:t>
            </a:r>
          </a:p>
          <a:p>
            <a:pPr algn="ctr">
              <a:lnSpc>
                <a:spcPts val="4480"/>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130300" y="4057750"/>
            <a:ext cx="3086100" cy="2171499"/>
            <a:chOff x="0" y="0"/>
            <a:chExt cx="812800" cy="571917"/>
          </a:xfrm>
        </p:grpSpPr>
        <p:sp>
          <p:nvSpPr>
            <p:cNvPr name="Freeform 4" id="4"/>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5" id="5"/>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6467343" y="4057750"/>
            <a:ext cx="3086100" cy="2171499"/>
            <a:chOff x="0" y="0"/>
            <a:chExt cx="812800" cy="571917"/>
          </a:xfrm>
        </p:grpSpPr>
        <p:sp>
          <p:nvSpPr>
            <p:cNvPr name="Freeform 7" id="7"/>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8" id="8"/>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5888151" y="0"/>
            <a:ext cx="2399849" cy="2399849"/>
          </a:xfrm>
          <a:custGeom>
            <a:avLst/>
            <a:gdLst/>
            <a:ahLst/>
            <a:cxnLst/>
            <a:rect r="r" b="b" t="t" l="l"/>
            <a:pathLst>
              <a:path h="2399849" w="2399849">
                <a:moveTo>
                  <a:pt x="0" y="0"/>
                </a:moveTo>
                <a:lnTo>
                  <a:pt x="2399849" y="0"/>
                </a:lnTo>
                <a:lnTo>
                  <a:pt x="2399849" y="2399849"/>
                </a:lnTo>
                <a:lnTo>
                  <a:pt x="0" y="2399849"/>
                </a:lnTo>
                <a:lnTo>
                  <a:pt x="0" y="0"/>
                </a:lnTo>
                <a:close/>
              </a:path>
            </a:pathLst>
          </a:custGeom>
          <a:blipFill>
            <a:blip r:embed="rId3"/>
            <a:stretch>
              <a:fillRect l="0" t="0" r="0" b="0"/>
            </a:stretch>
          </a:blipFill>
        </p:spPr>
      </p:sp>
      <p:sp>
        <p:nvSpPr>
          <p:cNvPr name="Freeform 10" id="10"/>
          <p:cNvSpPr/>
          <p:nvPr/>
        </p:nvSpPr>
        <p:spPr>
          <a:xfrm flipH="false" flipV="false" rot="0">
            <a:off x="-4790" y="0"/>
            <a:ext cx="1960590" cy="2281071"/>
          </a:xfrm>
          <a:custGeom>
            <a:avLst/>
            <a:gdLst/>
            <a:ahLst/>
            <a:cxnLst/>
            <a:rect r="r" b="b" t="t" l="l"/>
            <a:pathLst>
              <a:path h="2281071" w="1960590">
                <a:moveTo>
                  <a:pt x="0" y="0"/>
                </a:moveTo>
                <a:lnTo>
                  <a:pt x="1960590" y="0"/>
                </a:lnTo>
                <a:lnTo>
                  <a:pt x="1960590" y="2281071"/>
                </a:lnTo>
                <a:lnTo>
                  <a:pt x="0" y="2281071"/>
                </a:lnTo>
                <a:lnTo>
                  <a:pt x="0" y="0"/>
                </a:lnTo>
                <a:close/>
              </a:path>
            </a:pathLst>
          </a:custGeom>
          <a:blipFill>
            <a:blip r:embed="rId4"/>
            <a:stretch>
              <a:fillRect l="0" t="0" r="0" b="0"/>
            </a:stretch>
          </a:blipFill>
        </p:spPr>
      </p:sp>
      <p:sp>
        <p:nvSpPr>
          <p:cNvPr name="TextBox 11" id="11"/>
          <p:cNvSpPr txBox="true"/>
          <p:nvPr/>
        </p:nvSpPr>
        <p:spPr>
          <a:xfrm rot="0">
            <a:off x="4719793" y="1016711"/>
            <a:ext cx="8404364" cy="1078232"/>
          </a:xfrm>
          <a:prstGeom prst="rect">
            <a:avLst/>
          </a:prstGeom>
        </p:spPr>
        <p:txBody>
          <a:bodyPr anchor="t" rtlCol="false" tIns="0" lIns="0" bIns="0" rIns="0">
            <a:spAutoFit/>
          </a:bodyPr>
          <a:lstStyle/>
          <a:p>
            <a:pPr algn="ctr">
              <a:lnSpc>
                <a:spcPts val="8819"/>
              </a:lnSpc>
            </a:pPr>
            <a:r>
              <a:rPr lang="en-US" b="true" sz="6299">
                <a:solidFill>
                  <a:srgbClr val="004AAD"/>
                </a:solidFill>
                <a:latin typeface="League Spartan"/>
                <a:ea typeface="League Spartan"/>
                <a:cs typeface="League Spartan"/>
                <a:sym typeface="League Spartan"/>
              </a:rPr>
              <a:t>BENEFITS</a:t>
            </a:r>
          </a:p>
        </p:txBody>
      </p:sp>
      <p:sp>
        <p:nvSpPr>
          <p:cNvPr name="TextBox 12" id="12"/>
          <p:cNvSpPr txBox="true"/>
          <p:nvPr/>
        </p:nvSpPr>
        <p:spPr>
          <a:xfrm rot="0">
            <a:off x="2164474" y="3981550"/>
            <a:ext cx="14094194" cy="3590291"/>
          </a:xfrm>
          <a:prstGeom prst="rect">
            <a:avLst/>
          </a:prstGeom>
        </p:spPr>
        <p:txBody>
          <a:bodyPr anchor="t" rtlCol="false" tIns="0" lIns="0" bIns="0" rIns="0">
            <a:spAutoFit/>
          </a:bodyPr>
          <a:lstStyle/>
          <a:p>
            <a:pPr algn="l" marL="734053" indent="-367026" lvl="1">
              <a:lnSpc>
                <a:spcPts val="4759"/>
              </a:lnSpc>
              <a:buFont typeface="Arial"/>
              <a:buChar char="•"/>
            </a:pPr>
            <a:r>
              <a:rPr lang="en-US" sz="3399">
                <a:solidFill>
                  <a:srgbClr val="131003"/>
                </a:solidFill>
                <a:latin typeface="Archivo Black"/>
                <a:ea typeface="Archivo Black"/>
                <a:cs typeface="Archivo Black"/>
                <a:sym typeface="Archivo Black"/>
              </a:rPr>
              <a:t>It will help citizens to borrow a reasonable amount of which they can handle</a:t>
            </a:r>
          </a:p>
          <a:p>
            <a:pPr algn="l">
              <a:lnSpc>
                <a:spcPts val="4759"/>
              </a:lnSpc>
            </a:pPr>
          </a:p>
          <a:p>
            <a:pPr algn="l" marL="734053" indent="-367026" lvl="1">
              <a:lnSpc>
                <a:spcPts val="4759"/>
              </a:lnSpc>
              <a:buFont typeface="Arial"/>
              <a:buChar char="•"/>
            </a:pPr>
            <a:r>
              <a:rPr lang="en-US" sz="3399">
                <a:solidFill>
                  <a:srgbClr val="131003"/>
                </a:solidFill>
                <a:latin typeface="Archivo Black"/>
                <a:ea typeface="Archivo Black"/>
                <a:cs typeface="Archivo Black"/>
                <a:sym typeface="Archivo Black"/>
              </a:rPr>
              <a:t>It wil help lenders and financial institution in giving loans accordingly to the users</a:t>
            </a:r>
          </a:p>
          <a:p>
            <a:pPr algn="l">
              <a:lnSpc>
                <a:spcPts val="4759"/>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130300" y="4057750"/>
            <a:ext cx="3086100" cy="2171499"/>
            <a:chOff x="0" y="0"/>
            <a:chExt cx="812800" cy="571917"/>
          </a:xfrm>
        </p:grpSpPr>
        <p:sp>
          <p:nvSpPr>
            <p:cNvPr name="Freeform 4" id="4"/>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5" id="5"/>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6467343" y="4057750"/>
            <a:ext cx="3086100" cy="2171499"/>
            <a:chOff x="0" y="0"/>
            <a:chExt cx="812800" cy="571917"/>
          </a:xfrm>
        </p:grpSpPr>
        <p:sp>
          <p:nvSpPr>
            <p:cNvPr name="Freeform 7" id="7"/>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8" id="8"/>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5888151" y="0"/>
            <a:ext cx="2399849" cy="2399849"/>
          </a:xfrm>
          <a:custGeom>
            <a:avLst/>
            <a:gdLst/>
            <a:ahLst/>
            <a:cxnLst/>
            <a:rect r="r" b="b" t="t" l="l"/>
            <a:pathLst>
              <a:path h="2399849" w="2399849">
                <a:moveTo>
                  <a:pt x="0" y="0"/>
                </a:moveTo>
                <a:lnTo>
                  <a:pt x="2399849" y="0"/>
                </a:lnTo>
                <a:lnTo>
                  <a:pt x="2399849" y="2399849"/>
                </a:lnTo>
                <a:lnTo>
                  <a:pt x="0" y="2399849"/>
                </a:lnTo>
                <a:lnTo>
                  <a:pt x="0" y="0"/>
                </a:lnTo>
                <a:close/>
              </a:path>
            </a:pathLst>
          </a:custGeom>
          <a:blipFill>
            <a:blip r:embed="rId3"/>
            <a:stretch>
              <a:fillRect l="0" t="0" r="0" b="0"/>
            </a:stretch>
          </a:blipFill>
        </p:spPr>
      </p:sp>
      <p:sp>
        <p:nvSpPr>
          <p:cNvPr name="Freeform 10" id="10"/>
          <p:cNvSpPr/>
          <p:nvPr/>
        </p:nvSpPr>
        <p:spPr>
          <a:xfrm flipH="false" flipV="false" rot="0">
            <a:off x="-4790" y="0"/>
            <a:ext cx="1960590" cy="2281071"/>
          </a:xfrm>
          <a:custGeom>
            <a:avLst/>
            <a:gdLst/>
            <a:ahLst/>
            <a:cxnLst/>
            <a:rect r="r" b="b" t="t" l="l"/>
            <a:pathLst>
              <a:path h="2281071" w="1960590">
                <a:moveTo>
                  <a:pt x="0" y="0"/>
                </a:moveTo>
                <a:lnTo>
                  <a:pt x="1960590" y="0"/>
                </a:lnTo>
                <a:lnTo>
                  <a:pt x="1960590" y="2281071"/>
                </a:lnTo>
                <a:lnTo>
                  <a:pt x="0" y="2281071"/>
                </a:lnTo>
                <a:lnTo>
                  <a:pt x="0" y="0"/>
                </a:lnTo>
                <a:close/>
              </a:path>
            </a:pathLst>
          </a:custGeom>
          <a:blipFill>
            <a:blip r:embed="rId4"/>
            <a:stretch>
              <a:fillRect l="0" t="0" r="0" b="0"/>
            </a:stretch>
          </a:blipFill>
        </p:spPr>
      </p:sp>
      <p:sp>
        <p:nvSpPr>
          <p:cNvPr name="Freeform 11" id="11"/>
          <p:cNvSpPr/>
          <p:nvPr/>
        </p:nvSpPr>
        <p:spPr>
          <a:xfrm flipH="false" flipV="false" rot="0">
            <a:off x="1955800" y="2083851"/>
            <a:ext cx="14085563" cy="7379006"/>
          </a:xfrm>
          <a:custGeom>
            <a:avLst/>
            <a:gdLst/>
            <a:ahLst/>
            <a:cxnLst/>
            <a:rect r="r" b="b" t="t" l="l"/>
            <a:pathLst>
              <a:path h="7379006" w="14085563">
                <a:moveTo>
                  <a:pt x="0" y="0"/>
                </a:moveTo>
                <a:lnTo>
                  <a:pt x="14085563" y="0"/>
                </a:lnTo>
                <a:lnTo>
                  <a:pt x="14085563" y="7379006"/>
                </a:lnTo>
                <a:lnTo>
                  <a:pt x="0" y="7379006"/>
                </a:lnTo>
                <a:lnTo>
                  <a:pt x="0" y="0"/>
                </a:lnTo>
                <a:close/>
              </a:path>
            </a:pathLst>
          </a:custGeom>
          <a:blipFill>
            <a:blip r:embed="rId5"/>
            <a:stretch>
              <a:fillRect l="0" t="0" r="0" b="0"/>
            </a:stretch>
          </a:blipFill>
        </p:spPr>
      </p:sp>
      <p:sp>
        <p:nvSpPr>
          <p:cNvPr name="TextBox 12" id="12"/>
          <p:cNvSpPr txBox="true"/>
          <p:nvPr/>
        </p:nvSpPr>
        <p:spPr>
          <a:xfrm rot="0">
            <a:off x="3337797" y="-49532"/>
            <a:ext cx="11168358" cy="1078232"/>
          </a:xfrm>
          <a:prstGeom prst="rect">
            <a:avLst/>
          </a:prstGeom>
        </p:spPr>
        <p:txBody>
          <a:bodyPr anchor="t" rtlCol="false" tIns="0" lIns="0" bIns="0" rIns="0">
            <a:spAutoFit/>
          </a:bodyPr>
          <a:lstStyle/>
          <a:p>
            <a:pPr algn="ctr">
              <a:lnSpc>
                <a:spcPts val="8819"/>
              </a:lnSpc>
            </a:pPr>
            <a:r>
              <a:rPr lang="en-US" b="true" sz="6299">
                <a:solidFill>
                  <a:srgbClr val="004AAD"/>
                </a:solidFill>
                <a:latin typeface="League Spartan"/>
                <a:ea typeface="League Spartan"/>
                <a:cs typeface="League Spartan"/>
                <a:sym typeface="League Spartan"/>
              </a:rPr>
              <a:t>CONCEPTUAL DIAGRAM</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130300" y="4057750"/>
            <a:ext cx="3086100" cy="2171499"/>
            <a:chOff x="0" y="0"/>
            <a:chExt cx="812800" cy="571917"/>
          </a:xfrm>
        </p:grpSpPr>
        <p:sp>
          <p:nvSpPr>
            <p:cNvPr name="Freeform 4" id="4"/>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5" id="5"/>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6467343" y="4057750"/>
            <a:ext cx="3086100" cy="2171499"/>
            <a:chOff x="0" y="0"/>
            <a:chExt cx="812800" cy="571917"/>
          </a:xfrm>
        </p:grpSpPr>
        <p:sp>
          <p:nvSpPr>
            <p:cNvPr name="Freeform 7" id="7"/>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8" id="8"/>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5888151" y="0"/>
            <a:ext cx="2399849" cy="2399849"/>
          </a:xfrm>
          <a:custGeom>
            <a:avLst/>
            <a:gdLst/>
            <a:ahLst/>
            <a:cxnLst/>
            <a:rect r="r" b="b" t="t" l="l"/>
            <a:pathLst>
              <a:path h="2399849" w="2399849">
                <a:moveTo>
                  <a:pt x="0" y="0"/>
                </a:moveTo>
                <a:lnTo>
                  <a:pt x="2399849" y="0"/>
                </a:lnTo>
                <a:lnTo>
                  <a:pt x="2399849" y="2399849"/>
                </a:lnTo>
                <a:lnTo>
                  <a:pt x="0" y="2399849"/>
                </a:lnTo>
                <a:lnTo>
                  <a:pt x="0" y="0"/>
                </a:lnTo>
                <a:close/>
              </a:path>
            </a:pathLst>
          </a:custGeom>
          <a:blipFill>
            <a:blip r:embed="rId3"/>
            <a:stretch>
              <a:fillRect l="0" t="0" r="0" b="0"/>
            </a:stretch>
          </a:blipFill>
        </p:spPr>
      </p:sp>
      <p:sp>
        <p:nvSpPr>
          <p:cNvPr name="Freeform 10" id="10"/>
          <p:cNvSpPr/>
          <p:nvPr/>
        </p:nvSpPr>
        <p:spPr>
          <a:xfrm flipH="false" flipV="false" rot="0">
            <a:off x="-4790" y="2845"/>
            <a:ext cx="1960590" cy="2281071"/>
          </a:xfrm>
          <a:custGeom>
            <a:avLst/>
            <a:gdLst/>
            <a:ahLst/>
            <a:cxnLst/>
            <a:rect r="r" b="b" t="t" l="l"/>
            <a:pathLst>
              <a:path h="2281071" w="1960590">
                <a:moveTo>
                  <a:pt x="0" y="0"/>
                </a:moveTo>
                <a:lnTo>
                  <a:pt x="1960590" y="0"/>
                </a:lnTo>
                <a:lnTo>
                  <a:pt x="1960590" y="2281071"/>
                </a:lnTo>
                <a:lnTo>
                  <a:pt x="0" y="2281071"/>
                </a:lnTo>
                <a:lnTo>
                  <a:pt x="0" y="0"/>
                </a:lnTo>
                <a:close/>
              </a:path>
            </a:pathLst>
          </a:custGeom>
          <a:blipFill>
            <a:blip r:embed="rId4"/>
            <a:stretch>
              <a:fillRect l="0" t="0" r="0" b="0"/>
            </a:stretch>
          </a:blipFill>
        </p:spPr>
      </p:sp>
      <p:sp>
        <p:nvSpPr>
          <p:cNvPr name="Freeform 11" id="11"/>
          <p:cNvSpPr/>
          <p:nvPr/>
        </p:nvSpPr>
        <p:spPr>
          <a:xfrm flipH="false" flipV="false" rot="0">
            <a:off x="3145339" y="2169236"/>
            <a:ext cx="2248099" cy="2248099"/>
          </a:xfrm>
          <a:custGeom>
            <a:avLst/>
            <a:gdLst/>
            <a:ahLst/>
            <a:cxnLst/>
            <a:rect r="r" b="b" t="t" l="l"/>
            <a:pathLst>
              <a:path h="2248099" w="2248099">
                <a:moveTo>
                  <a:pt x="0" y="0"/>
                </a:moveTo>
                <a:lnTo>
                  <a:pt x="2248099" y="0"/>
                </a:lnTo>
                <a:lnTo>
                  <a:pt x="2248099" y="2248098"/>
                </a:lnTo>
                <a:lnTo>
                  <a:pt x="0" y="2248098"/>
                </a:lnTo>
                <a:lnTo>
                  <a:pt x="0" y="0"/>
                </a:lnTo>
                <a:close/>
              </a:path>
            </a:pathLst>
          </a:custGeom>
          <a:blipFill>
            <a:blip r:embed="rId5"/>
            <a:stretch>
              <a:fillRect l="0" t="0" r="0" b="0"/>
            </a:stretch>
          </a:blipFill>
        </p:spPr>
      </p:sp>
      <p:sp>
        <p:nvSpPr>
          <p:cNvPr name="Freeform 12" id="12"/>
          <p:cNvSpPr/>
          <p:nvPr/>
        </p:nvSpPr>
        <p:spPr>
          <a:xfrm flipH="false" flipV="false" rot="0">
            <a:off x="8482072" y="2283916"/>
            <a:ext cx="2426149" cy="2426149"/>
          </a:xfrm>
          <a:custGeom>
            <a:avLst/>
            <a:gdLst/>
            <a:ahLst/>
            <a:cxnLst/>
            <a:rect r="r" b="b" t="t" l="l"/>
            <a:pathLst>
              <a:path h="2426149" w="2426149">
                <a:moveTo>
                  <a:pt x="0" y="0"/>
                </a:moveTo>
                <a:lnTo>
                  <a:pt x="2426149" y="0"/>
                </a:lnTo>
                <a:lnTo>
                  <a:pt x="2426149" y="2426149"/>
                </a:lnTo>
                <a:lnTo>
                  <a:pt x="0" y="2426149"/>
                </a:lnTo>
                <a:lnTo>
                  <a:pt x="0" y="0"/>
                </a:lnTo>
                <a:close/>
              </a:path>
            </a:pathLst>
          </a:custGeom>
          <a:blipFill>
            <a:blip r:embed="rId6"/>
            <a:stretch>
              <a:fillRect l="0" t="0" r="0" b="0"/>
            </a:stretch>
          </a:blipFill>
        </p:spPr>
      </p:sp>
      <p:sp>
        <p:nvSpPr>
          <p:cNvPr name="Freeform 13" id="13"/>
          <p:cNvSpPr/>
          <p:nvPr/>
        </p:nvSpPr>
        <p:spPr>
          <a:xfrm flipH="false" flipV="false" rot="0">
            <a:off x="13031741" y="2175658"/>
            <a:ext cx="2375340" cy="2375340"/>
          </a:xfrm>
          <a:custGeom>
            <a:avLst/>
            <a:gdLst/>
            <a:ahLst/>
            <a:cxnLst/>
            <a:rect r="r" b="b" t="t" l="l"/>
            <a:pathLst>
              <a:path h="2375340" w="2375340">
                <a:moveTo>
                  <a:pt x="0" y="0"/>
                </a:moveTo>
                <a:lnTo>
                  <a:pt x="2375340" y="0"/>
                </a:lnTo>
                <a:lnTo>
                  <a:pt x="2375340" y="2375339"/>
                </a:lnTo>
                <a:lnTo>
                  <a:pt x="0" y="2375339"/>
                </a:lnTo>
                <a:lnTo>
                  <a:pt x="0" y="0"/>
                </a:lnTo>
                <a:close/>
              </a:path>
            </a:pathLst>
          </a:custGeom>
          <a:blipFill>
            <a:blip r:embed="rId7"/>
            <a:stretch>
              <a:fillRect l="0" t="0" r="0" b="0"/>
            </a:stretch>
          </a:blipFill>
        </p:spPr>
      </p:sp>
      <p:sp>
        <p:nvSpPr>
          <p:cNvPr name="Freeform 14" id="14"/>
          <p:cNvSpPr/>
          <p:nvPr/>
        </p:nvSpPr>
        <p:spPr>
          <a:xfrm flipH="false" flipV="false" rot="0">
            <a:off x="8597691" y="5791162"/>
            <a:ext cx="2420438" cy="2420438"/>
          </a:xfrm>
          <a:custGeom>
            <a:avLst/>
            <a:gdLst/>
            <a:ahLst/>
            <a:cxnLst/>
            <a:rect r="r" b="b" t="t" l="l"/>
            <a:pathLst>
              <a:path h="2420438" w="2420438">
                <a:moveTo>
                  <a:pt x="0" y="0"/>
                </a:moveTo>
                <a:lnTo>
                  <a:pt x="2420439" y="0"/>
                </a:lnTo>
                <a:lnTo>
                  <a:pt x="2420439" y="2420439"/>
                </a:lnTo>
                <a:lnTo>
                  <a:pt x="0" y="2420439"/>
                </a:lnTo>
                <a:lnTo>
                  <a:pt x="0" y="0"/>
                </a:lnTo>
                <a:close/>
              </a:path>
            </a:pathLst>
          </a:custGeom>
          <a:blipFill>
            <a:blip r:embed="rId8"/>
            <a:stretch>
              <a:fillRect l="0" t="0" r="0" b="0"/>
            </a:stretch>
          </a:blipFill>
        </p:spPr>
      </p:sp>
      <p:sp>
        <p:nvSpPr>
          <p:cNvPr name="Freeform 15" id="15"/>
          <p:cNvSpPr/>
          <p:nvPr/>
        </p:nvSpPr>
        <p:spPr>
          <a:xfrm flipH="false" flipV="false" rot="0">
            <a:off x="2776301" y="5461635"/>
            <a:ext cx="2986174" cy="3079492"/>
          </a:xfrm>
          <a:custGeom>
            <a:avLst/>
            <a:gdLst/>
            <a:ahLst/>
            <a:cxnLst/>
            <a:rect r="r" b="b" t="t" l="l"/>
            <a:pathLst>
              <a:path h="3079492" w="2986174">
                <a:moveTo>
                  <a:pt x="0" y="0"/>
                </a:moveTo>
                <a:lnTo>
                  <a:pt x="2986175" y="0"/>
                </a:lnTo>
                <a:lnTo>
                  <a:pt x="2986175" y="3079493"/>
                </a:lnTo>
                <a:lnTo>
                  <a:pt x="0" y="3079493"/>
                </a:lnTo>
                <a:lnTo>
                  <a:pt x="0" y="0"/>
                </a:lnTo>
                <a:close/>
              </a:path>
            </a:pathLst>
          </a:custGeom>
          <a:blipFill>
            <a:blip r:embed="rId9"/>
            <a:stretch>
              <a:fillRect l="0" t="0" r="0" b="0"/>
            </a:stretch>
          </a:blipFill>
        </p:spPr>
      </p:sp>
      <p:sp>
        <p:nvSpPr>
          <p:cNvPr name="Freeform 16" id="16"/>
          <p:cNvSpPr/>
          <p:nvPr/>
        </p:nvSpPr>
        <p:spPr>
          <a:xfrm flipH="false" flipV="false" rot="0">
            <a:off x="13626436" y="6279413"/>
            <a:ext cx="2261715" cy="2261715"/>
          </a:xfrm>
          <a:custGeom>
            <a:avLst/>
            <a:gdLst/>
            <a:ahLst/>
            <a:cxnLst/>
            <a:rect r="r" b="b" t="t" l="l"/>
            <a:pathLst>
              <a:path h="2261715" w="2261715">
                <a:moveTo>
                  <a:pt x="0" y="0"/>
                </a:moveTo>
                <a:lnTo>
                  <a:pt x="2261715" y="0"/>
                </a:lnTo>
                <a:lnTo>
                  <a:pt x="2261715" y="2261715"/>
                </a:lnTo>
                <a:lnTo>
                  <a:pt x="0" y="2261715"/>
                </a:lnTo>
                <a:lnTo>
                  <a:pt x="0" y="0"/>
                </a:lnTo>
                <a:close/>
              </a:path>
            </a:pathLst>
          </a:custGeom>
          <a:blipFill>
            <a:blip r:embed="rId10"/>
            <a:stretch>
              <a:fillRect l="0" t="0" r="0" b="0"/>
            </a:stretch>
          </a:blipFill>
        </p:spPr>
      </p:sp>
      <p:sp>
        <p:nvSpPr>
          <p:cNvPr name="TextBox 17" id="17"/>
          <p:cNvSpPr txBox="true"/>
          <p:nvPr/>
        </p:nvSpPr>
        <p:spPr>
          <a:xfrm rot="0">
            <a:off x="4195072" y="652854"/>
            <a:ext cx="8404364" cy="1078232"/>
          </a:xfrm>
          <a:prstGeom prst="rect">
            <a:avLst/>
          </a:prstGeom>
        </p:spPr>
        <p:txBody>
          <a:bodyPr anchor="t" rtlCol="false" tIns="0" lIns="0" bIns="0" rIns="0">
            <a:spAutoFit/>
          </a:bodyPr>
          <a:lstStyle/>
          <a:p>
            <a:pPr algn="ctr">
              <a:lnSpc>
                <a:spcPts val="8819"/>
              </a:lnSpc>
            </a:pPr>
            <a:r>
              <a:rPr lang="en-US" b="true" sz="6299">
                <a:solidFill>
                  <a:srgbClr val="004AAD"/>
                </a:solidFill>
                <a:latin typeface="League Spartan"/>
                <a:ea typeface="League Spartan"/>
                <a:cs typeface="League Spartan"/>
                <a:sym typeface="League Spartan"/>
              </a:rPr>
              <a:t>TECHNOLOGY</a:t>
            </a:r>
          </a:p>
        </p:txBody>
      </p:sp>
      <p:sp>
        <p:nvSpPr>
          <p:cNvPr name="TextBox 18" id="18"/>
          <p:cNvSpPr txBox="true"/>
          <p:nvPr/>
        </p:nvSpPr>
        <p:spPr>
          <a:xfrm rot="0">
            <a:off x="9018425" y="8435327"/>
            <a:ext cx="1353443" cy="701343"/>
          </a:xfrm>
          <a:prstGeom prst="rect">
            <a:avLst/>
          </a:prstGeom>
        </p:spPr>
        <p:txBody>
          <a:bodyPr anchor="t" rtlCol="false" tIns="0" lIns="0" bIns="0" rIns="0">
            <a:spAutoFit/>
          </a:bodyPr>
          <a:lstStyle/>
          <a:p>
            <a:pPr algn="ctr">
              <a:lnSpc>
                <a:spcPts val="2818"/>
              </a:lnSpc>
              <a:spcBef>
                <a:spcPct val="0"/>
              </a:spcBef>
            </a:pPr>
            <a:r>
              <a:rPr lang="en-US" sz="2013">
                <a:solidFill>
                  <a:srgbClr val="131003"/>
                </a:solidFill>
                <a:latin typeface="Archivo Black"/>
                <a:ea typeface="Archivo Black"/>
                <a:cs typeface="Archivo Black"/>
                <a:sym typeface="Archivo Black"/>
              </a:rPr>
              <a:t>Ethereum</a:t>
            </a:r>
          </a:p>
          <a:p>
            <a:pPr algn="ctr">
              <a:lnSpc>
                <a:spcPts val="2818"/>
              </a:lnSpc>
              <a:spcBef>
                <a:spcPct val="0"/>
              </a:spcBef>
            </a:pPr>
          </a:p>
        </p:txBody>
      </p:sp>
      <p:sp>
        <p:nvSpPr>
          <p:cNvPr name="TextBox 19" id="19"/>
          <p:cNvSpPr txBox="true"/>
          <p:nvPr/>
        </p:nvSpPr>
        <p:spPr>
          <a:xfrm rot="0">
            <a:off x="2889256" y="4344305"/>
            <a:ext cx="2645966" cy="365760"/>
          </a:xfrm>
          <a:prstGeom prst="rect">
            <a:avLst/>
          </a:prstGeom>
        </p:spPr>
        <p:txBody>
          <a:bodyPr anchor="t" rtlCol="false" tIns="0" lIns="0" bIns="0" rIns="0">
            <a:spAutoFit/>
          </a:bodyPr>
          <a:lstStyle/>
          <a:p>
            <a:pPr algn="ctr">
              <a:lnSpc>
                <a:spcPts val="2939"/>
              </a:lnSpc>
              <a:spcBef>
                <a:spcPct val="0"/>
              </a:spcBef>
            </a:pPr>
            <a:r>
              <a:rPr lang="en-US" sz="2099">
                <a:solidFill>
                  <a:srgbClr val="131003"/>
                </a:solidFill>
                <a:latin typeface="Archivo Black"/>
                <a:ea typeface="Archivo Black"/>
                <a:cs typeface="Archivo Black"/>
                <a:sym typeface="Archivo Black"/>
              </a:rPr>
              <a:t>Angular</a:t>
            </a:r>
          </a:p>
        </p:txBody>
      </p:sp>
      <p:sp>
        <p:nvSpPr>
          <p:cNvPr name="TextBox 20" id="20"/>
          <p:cNvSpPr txBox="true"/>
          <p:nvPr/>
        </p:nvSpPr>
        <p:spPr>
          <a:xfrm rot="0">
            <a:off x="8372164" y="5095875"/>
            <a:ext cx="2645966" cy="365760"/>
          </a:xfrm>
          <a:prstGeom prst="rect">
            <a:avLst/>
          </a:prstGeom>
        </p:spPr>
        <p:txBody>
          <a:bodyPr anchor="t" rtlCol="false" tIns="0" lIns="0" bIns="0" rIns="0">
            <a:spAutoFit/>
          </a:bodyPr>
          <a:lstStyle/>
          <a:p>
            <a:pPr algn="ctr">
              <a:lnSpc>
                <a:spcPts val="2939"/>
              </a:lnSpc>
              <a:spcBef>
                <a:spcPct val="0"/>
              </a:spcBef>
            </a:pPr>
            <a:r>
              <a:rPr lang="en-US" sz="2099">
                <a:solidFill>
                  <a:srgbClr val="131003"/>
                </a:solidFill>
                <a:latin typeface="Archivo Black"/>
                <a:ea typeface="Archivo Black"/>
                <a:cs typeface="Archivo Black"/>
                <a:sym typeface="Archivo Black"/>
              </a:rPr>
              <a:t>Django</a:t>
            </a:r>
          </a:p>
        </p:txBody>
      </p:sp>
      <p:sp>
        <p:nvSpPr>
          <p:cNvPr name="TextBox 21" id="21"/>
          <p:cNvSpPr txBox="true"/>
          <p:nvPr/>
        </p:nvSpPr>
        <p:spPr>
          <a:xfrm rot="0">
            <a:off x="13242185" y="4936807"/>
            <a:ext cx="2645966" cy="365760"/>
          </a:xfrm>
          <a:prstGeom prst="rect">
            <a:avLst/>
          </a:prstGeom>
        </p:spPr>
        <p:txBody>
          <a:bodyPr anchor="t" rtlCol="false" tIns="0" lIns="0" bIns="0" rIns="0">
            <a:spAutoFit/>
          </a:bodyPr>
          <a:lstStyle/>
          <a:p>
            <a:pPr algn="ctr">
              <a:lnSpc>
                <a:spcPts val="2939"/>
              </a:lnSpc>
              <a:spcBef>
                <a:spcPct val="0"/>
              </a:spcBef>
            </a:pPr>
            <a:r>
              <a:rPr lang="en-US" sz="2099">
                <a:solidFill>
                  <a:srgbClr val="131003"/>
                </a:solidFill>
                <a:latin typeface="Archivo Black"/>
                <a:ea typeface="Archivo Black"/>
                <a:cs typeface="Archivo Black"/>
                <a:sym typeface="Archivo Black"/>
              </a:rPr>
              <a:t>Python</a:t>
            </a:r>
          </a:p>
        </p:txBody>
      </p:sp>
      <p:sp>
        <p:nvSpPr>
          <p:cNvPr name="TextBox 22" id="22"/>
          <p:cNvSpPr txBox="true"/>
          <p:nvPr/>
        </p:nvSpPr>
        <p:spPr>
          <a:xfrm rot="0">
            <a:off x="3866620" y="8661294"/>
            <a:ext cx="2645966" cy="365760"/>
          </a:xfrm>
          <a:prstGeom prst="rect">
            <a:avLst/>
          </a:prstGeom>
        </p:spPr>
        <p:txBody>
          <a:bodyPr anchor="t" rtlCol="false" tIns="0" lIns="0" bIns="0" rIns="0">
            <a:spAutoFit/>
          </a:bodyPr>
          <a:lstStyle/>
          <a:p>
            <a:pPr algn="ctr">
              <a:lnSpc>
                <a:spcPts val="2939"/>
              </a:lnSpc>
              <a:spcBef>
                <a:spcPct val="0"/>
              </a:spcBef>
            </a:pPr>
            <a:r>
              <a:rPr lang="en-US" sz="2099">
                <a:solidFill>
                  <a:srgbClr val="131003"/>
                </a:solidFill>
                <a:latin typeface="Archivo Black"/>
                <a:ea typeface="Archivo Black"/>
                <a:cs typeface="Archivo Black"/>
                <a:sym typeface="Archivo Black"/>
              </a:rPr>
              <a:t>Postgresql</a:t>
            </a:r>
          </a:p>
        </p:txBody>
      </p:sp>
      <p:sp>
        <p:nvSpPr>
          <p:cNvPr name="TextBox 23" id="23"/>
          <p:cNvSpPr txBox="true"/>
          <p:nvPr/>
        </p:nvSpPr>
        <p:spPr>
          <a:xfrm rot="0">
            <a:off x="13242185" y="8820361"/>
            <a:ext cx="2645966" cy="365760"/>
          </a:xfrm>
          <a:prstGeom prst="rect">
            <a:avLst/>
          </a:prstGeom>
        </p:spPr>
        <p:txBody>
          <a:bodyPr anchor="t" rtlCol="false" tIns="0" lIns="0" bIns="0" rIns="0">
            <a:spAutoFit/>
          </a:bodyPr>
          <a:lstStyle/>
          <a:p>
            <a:pPr algn="ctr">
              <a:lnSpc>
                <a:spcPts val="2939"/>
              </a:lnSpc>
              <a:spcBef>
                <a:spcPct val="0"/>
              </a:spcBef>
            </a:pPr>
            <a:r>
              <a:rPr lang="en-US" sz="2099">
                <a:solidFill>
                  <a:srgbClr val="131003"/>
                </a:solidFill>
                <a:latin typeface="Archivo Black"/>
                <a:ea typeface="Archivo Black"/>
                <a:cs typeface="Archivo Black"/>
                <a:sym typeface="Archivo Black"/>
              </a:rPr>
              <a:t>Solidity</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130300" y="4057750"/>
            <a:ext cx="3086100" cy="2171499"/>
            <a:chOff x="0" y="0"/>
            <a:chExt cx="812800" cy="571917"/>
          </a:xfrm>
        </p:grpSpPr>
        <p:sp>
          <p:nvSpPr>
            <p:cNvPr name="Freeform 4" id="4"/>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5" id="5"/>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6467343" y="4057750"/>
            <a:ext cx="3086100" cy="2171499"/>
            <a:chOff x="0" y="0"/>
            <a:chExt cx="812800" cy="571917"/>
          </a:xfrm>
        </p:grpSpPr>
        <p:sp>
          <p:nvSpPr>
            <p:cNvPr name="Freeform 7" id="7"/>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8" id="8"/>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5888151" y="0"/>
            <a:ext cx="2399849" cy="2399849"/>
          </a:xfrm>
          <a:custGeom>
            <a:avLst/>
            <a:gdLst/>
            <a:ahLst/>
            <a:cxnLst/>
            <a:rect r="r" b="b" t="t" l="l"/>
            <a:pathLst>
              <a:path h="2399849" w="2399849">
                <a:moveTo>
                  <a:pt x="0" y="0"/>
                </a:moveTo>
                <a:lnTo>
                  <a:pt x="2399849" y="0"/>
                </a:lnTo>
                <a:lnTo>
                  <a:pt x="2399849" y="2399849"/>
                </a:lnTo>
                <a:lnTo>
                  <a:pt x="0" y="2399849"/>
                </a:lnTo>
                <a:lnTo>
                  <a:pt x="0" y="0"/>
                </a:lnTo>
                <a:close/>
              </a:path>
            </a:pathLst>
          </a:custGeom>
          <a:blipFill>
            <a:blip r:embed="rId3"/>
            <a:stretch>
              <a:fillRect l="0" t="0" r="0" b="0"/>
            </a:stretch>
          </a:blipFill>
        </p:spPr>
      </p:sp>
      <p:sp>
        <p:nvSpPr>
          <p:cNvPr name="Freeform 10" id="10"/>
          <p:cNvSpPr/>
          <p:nvPr/>
        </p:nvSpPr>
        <p:spPr>
          <a:xfrm flipH="false" flipV="false" rot="0">
            <a:off x="-4790" y="0"/>
            <a:ext cx="1960590" cy="2281071"/>
          </a:xfrm>
          <a:custGeom>
            <a:avLst/>
            <a:gdLst/>
            <a:ahLst/>
            <a:cxnLst/>
            <a:rect r="r" b="b" t="t" l="l"/>
            <a:pathLst>
              <a:path h="2281071" w="1960590">
                <a:moveTo>
                  <a:pt x="0" y="0"/>
                </a:moveTo>
                <a:lnTo>
                  <a:pt x="1960590" y="0"/>
                </a:lnTo>
                <a:lnTo>
                  <a:pt x="1960590" y="2281071"/>
                </a:lnTo>
                <a:lnTo>
                  <a:pt x="0" y="2281071"/>
                </a:lnTo>
                <a:lnTo>
                  <a:pt x="0" y="0"/>
                </a:lnTo>
                <a:close/>
              </a:path>
            </a:pathLst>
          </a:custGeom>
          <a:blipFill>
            <a:blip r:embed="rId4"/>
            <a:stretch>
              <a:fillRect l="0" t="0" r="0" b="0"/>
            </a:stretch>
          </a:blipFill>
        </p:spPr>
      </p:sp>
      <p:sp>
        <p:nvSpPr>
          <p:cNvPr name="TextBox 11" id="11"/>
          <p:cNvSpPr txBox="true"/>
          <p:nvPr/>
        </p:nvSpPr>
        <p:spPr>
          <a:xfrm rot="0">
            <a:off x="4445749" y="904875"/>
            <a:ext cx="8404364" cy="1078232"/>
          </a:xfrm>
          <a:prstGeom prst="rect">
            <a:avLst/>
          </a:prstGeom>
        </p:spPr>
        <p:txBody>
          <a:bodyPr anchor="t" rtlCol="false" tIns="0" lIns="0" bIns="0" rIns="0">
            <a:spAutoFit/>
          </a:bodyPr>
          <a:lstStyle/>
          <a:p>
            <a:pPr algn="ctr">
              <a:lnSpc>
                <a:spcPts val="8819"/>
              </a:lnSpc>
            </a:pPr>
            <a:r>
              <a:rPr lang="en-US" b="true" sz="6299">
                <a:solidFill>
                  <a:srgbClr val="004AAD"/>
                </a:solidFill>
                <a:latin typeface="League Spartan"/>
                <a:ea typeface="League Spartan"/>
                <a:cs typeface="League Spartan"/>
                <a:sym typeface="League Spartan"/>
              </a:rPr>
              <a:t>CONLUSION</a:t>
            </a:r>
          </a:p>
        </p:txBody>
      </p:sp>
      <p:sp>
        <p:nvSpPr>
          <p:cNvPr name="TextBox 12" id="12"/>
          <p:cNvSpPr txBox="true"/>
          <p:nvPr/>
        </p:nvSpPr>
        <p:spPr>
          <a:xfrm rot="0">
            <a:off x="2205724" y="3981550"/>
            <a:ext cx="14261618" cy="1790066"/>
          </a:xfrm>
          <a:prstGeom prst="rect">
            <a:avLst/>
          </a:prstGeom>
        </p:spPr>
        <p:txBody>
          <a:bodyPr anchor="t" rtlCol="false" tIns="0" lIns="0" bIns="0" rIns="0">
            <a:spAutoFit/>
          </a:bodyPr>
          <a:lstStyle/>
          <a:p>
            <a:pPr algn="ctr">
              <a:lnSpc>
                <a:spcPts val="4759"/>
              </a:lnSpc>
              <a:spcBef>
                <a:spcPct val="0"/>
              </a:spcBef>
            </a:pPr>
            <a:r>
              <a:rPr lang="en-US" sz="3399">
                <a:solidFill>
                  <a:srgbClr val="131003"/>
                </a:solidFill>
                <a:latin typeface="Archivo Black"/>
                <a:ea typeface="Archivo Black"/>
                <a:cs typeface="Archivo Black"/>
                <a:sym typeface="Archivo Black"/>
              </a:rPr>
              <a:t>Combining AI precision with Web3 blockchain immutability ensures a transparent, decentralized, and tamper-proof reputation system.</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130300" y="4057750"/>
            <a:ext cx="3086100" cy="2171499"/>
            <a:chOff x="0" y="0"/>
            <a:chExt cx="812800" cy="571917"/>
          </a:xfrm>
        </p:grpSpPr>
        <p:sp>
          <p:nvSpPr>
            <p:cNvPr name="Freeform 4" id="4"/>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5" id="5"/>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6467343" y="4057750"/>
            <a:ext cx="3086100" cy="2171499"/>
            <a:chOff x="0" y="0"/>
            <a:chExt cx="812800" cy="571917"/>
          </a:xfrm>
        </p:grpSpPr>
        <p:sp>
          <p:nvSpPr>
            <p:cNvPr name="Freeform 7" id="7"/>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8" id="8"/>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5888151" y="0"/>
            <a:ext cx="2399849" cy="2399849"/>
          </a:xfrm>
          <a:custGeom>
            <a:avLst/>
            <a:gdLst/>
            <a:ahLst/>
            <a:cxnLst/>
            <a:rect r="r" b="b" t="t" l="l"/>
            <a:pathLst>
              <a:path h="2399849" w="2399849">
                <a:moveTo>
                  <a:pt x="0" y="0"/>
                </a:moveTo>
                <a:lnTo>
                  <a:pt x="2399849" y="0"/>
                </a:lnTo>
                <a:lnTo>
                  <a:pt x="2399849" y="2399849"/>
                </a:lnTo>
                <a:lnTo>
                  <a:pt x="0" y="2399849"/>
                </a:lnTo>
                <a:lnTo>
                  <a:pt x="0" y="0"/>
                </a:lnTo>
                <a:close/>
              </a:path>
            </a:pathLst>
          </a:custGeom>
          <a:blipFill>
            <a:blip r:embed="rId3"/>
            <a:stretch>
              <a:fillRect l="0" t="0" r="0" b="0"/>
            </a:stretch>
          </a:blipFill>
        </p:spPr>
      </p:sp>
      <p:sp>
        <p:nvSpPr>
          <p:cNvPr name="Freeform 10" id="10"/>
          <p:cNvSpPr/>
          <p:nvPr/>
        </p:nvSpPr>
        <p:spPr>
          <a:xfrm flipH="false" flipV="false" rot="0">
            <a:off x="-4790" y="0"/>
            <a:ext cx="1960590" cy="2281071"/>
          </a:xfrm>
          <a:custGeom>
            <a:avLst/>
            <a:gdLst/>
            <a:ahLst/>
            <a:cxnLst/>
            <a:rect r="r" b="b" t="t" l="l"/>
            <a:pathLst>
              <a:path h="2281071" w="1960590">
                <a:moveTo>
                  <a:pt x="0" y="0"/>
                </a:moveTo>
                <a:lnTo>
                  <a:pt x="1960590" y="0"/>
                </a:lnTo>
                <a:lnTo>
                  <a:pt x="1960590" y="2281071"/>
                </a:lnTo>
                <a:lnTo>
                  <a:pt x="0" y="2281071"/>
                </a:lnTo>
                <a:lnTo>
                  <a:pt x="0" y="0"/>
                </a:lnTo>
                <a:close/>
              </a:path>
            </a:pathLst>
          </a:custGeom>
          <a:blipFill>
            <a:blip r:embed="rId4"/>
            <a:stretch>
              <a:fillRect l="0" t="0" r="0" b="0"/>
            </a:stretch>
          </a:blipFill>
        </p:spPr>
      </p:sp>
      <p:sp>
        <p:nvSpPr>
          <p:cNvPr name="TextBox 11" id="11"/>
          <p:cNvSpPr txBox="true"/>
          <p:nvPr/>
        </p:nvSpPr>
        <p:spPr>
          <a:xfrm rot="0">
            <a:off x="4725159" y="4201295"/>
            <a:ext cx="8404364" cy="1078232"/>
          </a:xfrm>
          <a:prstGeom prst="rect">
            <a:avLst/>
          </a:prstGeom>
        </p:spPr>
        <p:txBody>
          <a:bodyPr anchor="t" rtlCol="false" tIns="0" lIns="0" bIns="0" rIns="0">
            <a:spAutoFit/>
          </a:bodyPr>
          <a:lstStyle/>
          <a:p>
            <a:pPr algn="ctr">
              <a:lnSpc>
                <a:spcPts val="8819"/>
              </a:lnSpc>
            </a:pPr>
            <a:r>
              <a:rPr lang="en-US" b="true" sz="6299">
                <a:solidFill>
                  <a:srgbClr val="004AAD"/>
                </a:solidFill>
                <a:latin typeface="League Spartan"/>
                <a:ea typeface="League Spartan"/>
                <a:cs typeface="League Spartan"/>
                <a:sym typeface="League Spartan"/>
              </a:rPr>
              <a:t>THANK YOU</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130300" y="4057750"/>
            <a:ext cx="3086100" cy="2171499"/>
            <a:chOff x="0" y="0"/>
            <a:chExt cx="812800" cy="571917"/>
          </a:xfrm>
        </p:grpSpPr>
        <p:sp>
          <p:nvSpPr>
            <p:cNvPr name="Freeform 4" id="4"/>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5" id="5"/>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6467343" y="4057750"/>
            <a:ext cx="3086100" cy="2171499"/>
            <a:chOff x="0" y="0"/>
            <a:chExt cx="812800" cy="571917"/>
          </a:xfrm>
        </p:grpSpPr>
        <p:sp>
          <p:nvSpPr>
            <p:cNvPr name="Freeform 7" id="7"/>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8" id="8"/>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5888151" y="0"/>
            <a:ext cx="2399849" cy="2399849"/>
          </a:xfrm>
          <a:custGeom>
            <a:avLst/>
            <a:gdLst/>
            <a:ahLst/>
            <a:cxnLst/>
            <a:rect r="r" b="b" t="t" l="l"/>
            <a:pathLst>
              <a:path h="2399849" w="2399849">
                <a:moveTo>
                  <a:pt x="0" y="0"/>
                </a:moveTo>
                <a:lnTo>
                  <a:pt x="2399849" y="0"/>
                </a:lnTo>
                <a:lnTo>
                  <a:pt x="2399849" y="2399849"/>
                </a:lnTo>
                <a:lnTo>
                  <a:pt x="0" y="2399849"/>
                </a:lnTo>
                <a:lnTo>
                  <a:pt x="0" y="0"/>
                </a:lnTo>
                <a:close/>
              </a:path>
            </a:pathLst>
          </a:custGeom>
          <a:blipFill>
            <a:blip r:embed="rId3"/>
            <a:stretch>
              <a:fillRect l="0" t="0" r="0" b="0"/>
            </a:stretch>
          </a:blipFill>
        </p:spPr>
      </p:sp>
      <p:sp>
        <p:nvSpPr>
          <p:cNvPr name="Freeform 10" id="10"/>
          <p:cNvSpPr/>
          <p:nvPr/>
        </p:nvSpPr>
        <p:spPr>
          <a:xfrm flipH="false" flipV="false" rot="0">
            <a:off x="-4790" y="0"/>
            <a:ext cx="1960590" cy="2281071"/>
          </a:xfrm>
          <a:custGeom>
            <a:avLst/>
            <a:gdLst/>
            <a:ahLst/>
            <a:cxnLst/>
            <a:rect r="r" b="b" t="t" l="l"/>
            <a:pathLst>
              <a:path h="2281071" w="1960590">
                <a:moveTo>
                  <a:pt x="0" y="0"/>
                </a:moveTo>
                <a:lnTo>
                  <a:pt x="1960590" y="0"/>
                </a:lnTo>
                <a:lnTo>
                  <a:pt x="1960590" y="2281071"/>
                </a:lnTo>
                <a:lnTo>
                  <a:pt x="0" y="2281071"/>
                </a:lnTo>
                <a:lnTo>
                  <a:pt x="0" y="0"/>
                </a:lnTo>
                <a:close/>
              </a:path>
            </a:pathLst>
          </a:custGeom>
          <a:blipFill>
            <a:blip r:embed="rId4"/>
            <a:stretch>
              <a:fillRect l="0" t="0" r="0" b="0"/>
            </a:stretch>
          </a:blipFill>
        </p:spPr>
      </p:sp>
      <p:sp>
        <p:nvSpPr>
          <p:cNvPr name="TextBox 11" id="11"/>
          <p:cNvSpPr txBox="true"/>
          <p:nvPr/>
        </p:nvSpPr>
        <p:spPr>
          <a:xfrm rot="0">
            <a:off x="1826391" y="4542472"/>
            <a:ext cx="14635218" cy="1078232"/>
          </a:xfrm>
          <a:prstGeom prst="rect">
            <a:avLst/>
          </a:prstGeom>
        </p:spPr>
        <p:txBody>
          <a:bodyPr anchor="t" rtlCol="false" tIns="0" lIns="0" bIns="0" rIns="0">
            <a:spAutoFit/>
          </a:bodyPr>
          <a:lstStyle/>
          <a:p>
            <a:pPr algn="ctr">
              <a:lnSpc>
                <a:spcPts val="8819"/>
              </a:lnSpc>
            </a:pPr>
            <a:r>
              <a:rPr lang="en-US" b="true" sz="6299">
                <a:solidFill>
                  <a:srgbClr val="004AAD"/>
                </a:solidFill>
                <a:latin typeface="League Spartan"/>
                <a:ea typeface="League Spartan"/>
                <a:cs typeface="League Spartan"/>
                <a:sym typeface="League Spartan"/>
              </a:rPr>
              <a:t>QUESTIONS AND ANSWERS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DAHUFgeEAHk</dc:identifier>
  <dcterms:modified xsi:type="dcterms:W3CDTF">2011-08-01T06:04:30Z</dcterms:modified>
  <cp:revision>1</cp:revision>
  <dc:title>A BLOCKCHAIN-BASED AI REPUTATION ENGINE FOR DECENTRALIZED CREDIT ASSESSMENT</dc:title>
</cp:coreProperties>
</file>